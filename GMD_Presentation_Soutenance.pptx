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Nizar Bakali, je suis étudiant en première année du cycle d'ingénieur à l'EMSI Tanger, filière Ingénierie Informatique et Réseaux.</a:t>
            </a:r>
          </a:p>
          <a:p/>
          <a:p>
            <a:r>
              <a:t>Je vais vous présenter le travail que j'ai réalisé pendant mon stage chez GMD Metal Tanger : une application web de gestion et de prévision des stocks. Je remercie Mme Samir, ma tutrice pédagogique, et M. Saidi, mon tuteur en entreprise.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commencerai par le contexte de l'entreprise et le problème qui m'a été posé. Je présenterai ensuite l'analyse et la conception, puis les technologies et l'architecture retenues. J'enchaînerai sur les fonctionnalités réalisées, avec un temps plus long sur l'import des données et sur la prévision, qui sont les deux parties les plus techniques. Je terminerai par les résultats, les limites et le bilan de ce stage.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GMD Metal Tanger fait partie du groupe GMD, un sous-traitant de l'industrie automobile. L'activité consiste à transformer des tôles métalliques par découpage, emboutissage et assemblage, pour produire des composants qu'on retrouve ensuite dans la carrosserie et la structure des véhicules.</a:t>
            </a:r>
          </a:p>
          <a:p/>
          <a:p>
            <a:r>
              <a:t>Le site se trouve à Tanger Automotive City, dans la plateforme de Tanger Med. L'unité a été inaugurée en octobre 2022 et représente environ trente mille mètres carrés d'espace industriel.</a:t>
            </a:r>
          </a:p>
          <a:p/>
          <a:p>
            <a:r>
              <a:t>Ce qui compte pour mon projet, c'est ce que cette activité implique : un très grand nombre de références différentes, qui entrent et sortent en permanence. Si une pièce n'est pas disponible au bon endroit et au bon moment, c'est la production qui s'arrête. La gestion du stockage n'est donc pas une tâche administrative, c'est un enjeu de continuité de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effectué mon stage au département informatique, une équipe qui réunit des développeurs, des profils data et un profil cybersécurité, chacun sur ses propres projets internes.</a:t>
            </a:r>
          </a:p>
          <a:p/>
          <a:p>
            <a:r>
              <a:t>Je préfère être précis sur mon point de départ : on m'a fourni un prototype, côté frontend et côté backend, ainsi qu'une base de styles CSS que je devais conserver pour rester cohérent avec les autres applications de l'entreprise. Les technologies étaient imposées. Ma première semaine a donc consisté à lire ce code existant avant d'écrire la moindre ligne.</a:t>
            </a:r>
          </a:p>
          <a:p/>
          <a:p>
            <a:r>
              <a:t>Ma mission était ensuite de construire, à partir de cette base, l'application de gestion des stocks : le modèle de données, les règles métier, les écrans, et la partie analyse et prévision. J'ai travaillé seul sur le projet, avec la possibilité de solliciter l'équipe quand je bloquais.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à laquelle j'ai dû répondre est la suivante : comment obtenir une vision fiable et localisée des stocks, tout en contrôlant la qualité des données qui entrent dans la base ?</a:t>
            </a:r>
          </a:p>
          <a:p/>
          <a:p>
            <a:r>
              <a:t>Trois constats sont derrière cette question. D'abord, savoir qu'on a mille pièces d'une référence ne suffit pas : il faut savoir dans quel magasin, quelle allée, quelle case, et si cette case est pleine. Ensuite, les historiques existent, mais sous forme de fichiers Excel produits par des personnes différentes, avec des encodages, des séparateurs et des formats de date qui changent d'un fichier à l'autre. Enfin, tout le monde doit pouvoir consulter, mais tout le monde ne doit pas pouvoir modifier.</a:t>
            </a:r>
          </a:p>
          <a:p/>
          <a:p>
            <a:r>
              <a:t>Vous verrez que ces trois points structurent toute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cahier des charges se résume en cinq besoins fonctionnels : représenter la hiérarchie physique du stockage, gérer les articles et leurs seuils, enregistrer les mouvements mensuels, calculer les indicateurs de stock et d'occupation, et enfin visualiser et projeter cette évolution.</a:t>
            </a:r>
          </a:p>
          <a:p/>
          <a:p>
            <a:r>
              <a:t>À côté de ça, trois exigences qui ne se voient pas à l'écran mais qui ont beaucoup pesé sur le code : l'accès doit être authentifié avec des droits séparés, les données doivent rester cohérentes — pas de doublon, pas de stock négatif — et je devais réutiliser le prototype et la charte graphique fournis plutôt que repartir de zéro.</a:t>
            </a:r>
          </a:p>
          <a:p/>
          <a:p>
            <a:r>
              <a:t>Je reviendrai sur chacun de ces points à la fin pour vous dire ce qui est atteint et ce qui ne l'est pas.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stage a duré un mois, du premier au trente-et-un juillet, et je l'ai découpé en onze phases que vous voyez sur ce diagramme de Gantt.</a:t>
            </a:r>
          </a:p>
          <a:p/>
          <a:p>
            <a:r>
              <a:t>J'ai travaillé de façon itérative : je concevais une fonctionnalité, je la développais, je la testais avec Swagger et dans l'interface, je corrigeais, puis je passais à la suivante. C'est pour ça que les phases se chevauchent : le développement du frontend a commencé avant la fin du backend, parce que chaque écran validait l'API correspondante.</a:t>
            </a:r>
          </a:p>
          <a:p/>
          <a:p>
            <a:r>
              <a:t>Côté outils, j'ai utilisé Visual Studio pour l'API, VS Code pour le frontend, SQL Server Management Studio pour la base, Swagger pour tester les routes, et Git pour suivre mes versions.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est classique en trois couches, avec deux compléments.</a:t>
            </a:r>
          </a:p>
          <a:p/>
          <a:p>
            <a:r>
              <a:t>Le navigateur exécute l'interface React. Cette interface ne parle jamais à la base directement : elle envoie des requêtes HTTP à l'API ASP.NET Core, qui répond en JSON. C'est l'API seule qui accède à SQL Server, à travers Entity Framework Core. Ça veut dire que toutes les règles métier sont à un seul endroit : même si quelqu'un appelait l'API avec un autre outil, il passerait par les mêmes contrôles.</a:t>
            </a:r>
          </a:p>
          <a:p/>
          <a:p>
            <a:r>
              <a:t>Les deux compléments : pour la prévision, l'API lance un processus Python séparé auquel elle envoie les données en JSON et dont elle lit le résultat. Et quand on crée un magasin, l'API interroge le service de cartographie d'OpenStreetMap pour convertir la ville et le pays en coordonnées, ce qui permet ensuite de placer le magasin sur la carte.</a:t>
            </a:r>
          </a:p>
          <a:p/>
          <a:p>
            <a:r>
              <a:t>[À FAIRE : ajouter sur le schéma la flèche sortante vers OpenStreetMap.]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backend, j'ai gardé une séparation stricte en couches.</a:t>
            </a:r>
          </a:p>
          <a:p/>
          <a:p>
            <a:r>
              <a:t>Le contrôleur ne fait que trois choses : il reçoit la requête, il vérifie le minimum, et il traduit le résultat en code HTTP — 200, 400, 404. Toute la logique métier est dans un service, derrière une interface, ce qui permet de l'injecter et de le remplacer sans toucher au contrôleur. Et l'API n'expose jamais directement les entités de la base : elle passe par des DTO, des objets construits pour la réponse, ce qui évite de renvoyer des champs internes.</a:t>
            </a:r>
          </a:p>
          <a:p/>
          <a:p>
            <a:r>
              <a:t>En volume, ça donne neuf contrôleurs pour quarante-deux opérations HTTP, neuf services, sept entités et deux migrations Entity Framework.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reproduit l'entrepôt tel qu'on le parcourt réellement. Un magasin contient des rayons, un rayon contient des zones, une zone contient des cases. Une case, c'est l'emplacement physique final.</a:t>
            </a:r>
          </a:p>
          <a:p/>
          <a:p>
            <a:r>
              <a:t>Entre la case et l'article, la relation n'est pas simple : un même article peut être stocké dans plusieurs cases, et une case peut contenir plusieurs articles. C'est donc une relation plusieurs-à-plusieurs, matérialisée par une table de jonction.</a:t>
            </a:r>
          </a:p>
          <a:p/>
          <a:p>
            <a:r>
              <a:t>Le cœur du modèle, c'est l'entité mouvement : une ligne par article, par case et par mois, avec une quantité entrée et une quantité sortie. Le stock n'est donc jamais une valeur stockée quelque part : il se recalcule toujours comme la somme des entrées moins les sorties. C'est un choix important, parce que ça veut dire qu'on ne peut pas avoir un stock qui contredit son historique.</a:t>
            </a:r>
          </a:p>
          <a:p/>
          <a:p>
            <a:r>
              <a:t>Enfin, la base garantit l'unicité : un code magasin est unique, un code rayon est unique dans son magasin, et surtout on ne peut pas avoir deux mouvements pour le même article, la même case et le même mois.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y a deux acteurs. L'utilisateur simple consulte : le tableau de bord, les graphiques, le plan d'occupation, la carte et la prévision. L'administrateur hérite de tous ces droits et peut en plus modifier la structure de l'entrepôt, les articles, les mouvements, lancer un import et gérer les comptes.</a:t>
            </a:r>
          </a:p>
          <a:p/>
          <a:p>
            <a:r>
              <a:t>Ce qui est important, c'est que cette séparation n'est pas seulement un menu qui cache des boutons. Elle est vérifiée dans l'API : chaque route d'écriture exige le rôle administrateur. Même si quelqu'un contournait l'interface, l'API refuserait.</a:t>
            </a:r>
          </a:p>
          <a:p/>
          <a:p>
            <a:r>
              <a:t>[À FAIRE : sur le diagramme, remplacer « Consulter la heatmap d'occupation » par « Consulter le plan d'occupation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ne vais pas lire la liste, je vais expliquer les choix qui étaient vraiment des choix.</a:t>
            </a:r>
          </a:p>
          <a:p/>
          <a:p>
            <a:r>
              <a:t>React, ASP.NET Core et SQL Server étaient imposés : le prototype était en React et la base existait déjà. Entity Framework Core me permet d'écrire mes requêtes en C# et surtout de versionner le schéma de la base par migrations, ce qui évite de modifier les tables à la main.</a:t>
            </a:r>
          </a:p>
          <a:p/>
          <a:p>
            <a:r>
              <a:t>Redux Toolkit, je l'ai gardé parce que les données mensuelles sont utilisées par plusieurs vues : je les charge une fois et je les partage, au lieu de rappeler l'API à chaque changement d'onglet.</a:t>
            </a:r>
          </a:p>
          <a:p/>
          <a:p>
            <a:r>
              <a:t>Python pour la prévision, c'est un choix assumé : le calcul est isolé dans un script indépendant. Si demain on veut une méthode plus avancée, on remplace le script sans toucher à l'API.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L'application est organisée en cinq sections, dans l'ordre où le travail se fait réellement : on regarde les chiffres, on met en place l'entrepôt, on l'alimente en stock, on analyse, et on gère les accès.</a:t>
            </a:r>
          </a:p>
          <a:p/>
          <a:p>
            <a:r>
              <a:t>Le menu est filtré par rôle : un utilisateur en lecture ne voit que le tableau de bord et l'analyse. L'interface propose aussi un thème clair et un thème sombre, mémorisé d'une session à l'autre.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section Structure reproduit le parcours physique : on part de la liste des magasins, on entre dans un magasin, on voit ses rayons, puis les zones, puis les cases. Le fil d'Ariane en haut permet de remonter à n'importe quel niveau. C'était un choix : au départ j'avais quatre écrans séparés, et on perdait le contexte à chaque fois.</a:t>
            </a:r>
          </a:p>
          <a:p/>
          <a:p>
            <a:r>
              <a:t>Chaque niveau a ses contraintes d'unicité : un code de rayon doit être unique dans son magasin, pas dans toute la base. La case, elle, porte deux informations importantes : sa capacité maximale et son statut, disponible ou plein, qui est recalculé automatiquement après chaque mouvement.</a:t>
            </a:r>
          </a:p>
          <a:p/>
          <a:p>
            <a:r>
              <a:t>Un point dont je suis content : quand on supprime une case qui contenait un historique, les mouvements ne sont pas supprimés. Ils sont détachés, et on conserve le nom de l'emplacement d'origine et la date du détachement. L'historique reste lisible.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article est identifié par un code au format ART, tiret, trois chiffres — un format imposé, et vous verrez qu'il joue un rôle dans l'import. Il porte une désignation, un seuil de réapprovisionnement, et la liste de ses emplacements.</a:t>
            </a:r>
          </a:p>
          <a:p/>
          <a:p>
            <a:r>
              <a:t>Ce n'est pas l'interface qui calcule le stock : c'est l'API qui renvoie les entrées cumulées, les sorties cumulées, le stock net et la capacité totale des cases occupées. L'interface se contente d'afficher.</a:t>
            </a:r>
          </a:p>
          <a:p/>
          <a:p>
            <a:r>
              <a:t>Le seuil sert à quelque chose de concret : dès que le stock net passe en dessous, l'article remonte dans les alertes du tableau de bord, avec le pourcentage atteint. C'est le passage d'une donnée brute à une information actionnable.</a:t>
            </a:r>
          </a:p>
          <a:p/>
          <a:p>
            <a:r>
              <a:t>Et là encore, la suppression est protégée : si un article a des mouvements, il est désactivé avec sa date de désactivation, au lieu d'être effacé. Sinon on perdrait tout son historique.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table des mouvements. Un mouvement, c'est un article, dans une case, pour un mois, avec une quantité entrée et une quantité sortie.</a:t>
            </a:r>
          </a:p>
          <a:p/>
          <a:p>
            <a:r>
              <a:t>Deux règles méritent d'être expliquées. La première, c'est l'unicité : la base elle-même interdit deux lignes pour le même article, la même case et le même mois. Ce n'est pas seulement un contrôle dans le code, c'est une contrainte dans la base.</a:t>
            </a:r>
          </a:p>
          <a:p/>
          <a:p>
            <a:r>
              <a:t>La seconde est plus intéressante. Quand on ajoute ou modifie un mouvement, le système ne vérifie pas seulement que le total final est positif : il rejoue toute la chronologie, mois par mois, et refuse l'opération si le stock devient négatif à un moment donné. Concrètement, on ne peut pas enregistrer une sortie en janvier si la marchandise n'est arrivée qu'en mars.</a:t>
            </a:r>
          </a:p>
          <a:p/>
          <a:p>
            <a:r>
              <a:t>Enfin, après chaque écriture, le système remet à jour le statut de la case et l'emplacement affiché de l'article, pour qu'aucun indicateur ne reste périmé.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J'arrive à la partie qui m'a demandé le plus de travail : l'import des historiques.</a:t>
            </a:r>
          </a:p>
          <a:p/>
          <a:p>
            <a:r>
              <a:t>Le point de départ, c'est un constat très concret. Un fichier produit par Excel en Europe n'est pas en UTF-8, il est en Windows-1252 : lu naïvement, « Cylindre moteur » devient illisible. Un Excel français enregistre avec des points-virgules et non des virgules. Si l'utilisateur retape le mois dans une cellule, Excel le transforme en date complète. Et les quantités arrivent parfois avec une décimale, parfois avec un séparateur de milliers.</a:t>
            </a:r>
          </a:p>
          <a:p/>
          <a:p>
            <a:r>
              <a:t>Plutôt que de rejeter ces fichiers, j'ai choisi de les corriger, mais de façon visible. Le traitement se fait en six étapes.</a:t>
            </a:r>
          </a:p>
          <a:p/>
          <a:p>
            <a:r>
              <a:t>D'abord la lecture : le système détecte l'encodage et le séparateur à partir du fichier lui-même, et répare les accents mal encodés. Ensuite il vérifie la structure : six colonnes précises. Puis il nettoie ligne à ligne : un code écrit « art espace 1 » devient ART-001, une date complète est ramenée au mois, une quantité décimale est arrondie, une quantité négative est ramenée à zéro.</a:t>
            </a:r>
          </a:p>
          <a:p/>
          <a:p>
            <a:r>
              <a:t>Quatrième étape, la résolution : le système retrouve l'article, et surtout il résout l'emplacement écrit sous forme de chemin, Magasin supérieur Rayon supérieur Zone supérieur Case. Si un article du fichier n'existe pas encore en base, il est créé.</a:t>
            </a:r>
          </a:p>
          <a:p/>
          <a:p>
            <a:r>
              <a:t>Cinquième étape, la cohérence : deux lignes identiques sont ignorées, mais deux lignes qui se contredisent sur le même mois sont additionnées — parce que dans la pratique, ce sont deux saisies partielles du même mois. Et le contrôle de stock chronologique s'applique aussi ici.</a:t>
            </a:r>
          </a:p>
          <a:p/>
          <a:p>
            <a:r>
              <a:t>Enfin l'écriture, dans une seule transaction : soit tout passe, soit rien n'est écrit.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automatiquement un fichier pose un problème : si le système corrige en silence, l'utilisateur ne sait plus ce qu'il a importé.</a:t>
            </a:r>
          </a:p>
          <a:p/>
          <a:p>
            <a:r>
              <a:t>J'ai donc ajouté une simulation. Quand on dépose un fichier, le serveur exécute exactement le même traitement que l'import réel — les contrôles de stock, de capacité, les conversions — puis annule la transaction. Le rapport affiché est donc exactement celui qu'aurait produit l'import, alors que la base n'a pas bougé d'un octet.</a:t>
            </a:r>
          </a:p>
          <a:p/>
          <a:p>
            <a:r>
              <a:t>Ce rapport liste chaque correction, ligne par ligne : quelle ligne, quel champ, quelle valeur d'origine, quelle valeur retenue et pourquoi. L'utilisateur voit par exemple que la ligne 12 avait un code mal écrit, ou que deux lignes du mois de mars ont été additionnées. Ensuite seulement il confirme.</a:t>
            </a:r>
          </a:p>
          <a:p/>
          <a:p>
            <a:r>
              <a:t>Il y a aussi deux opérations destructives : remplacer toutes les données, ou vider la base. Les deux demandent de taper le mot complet — REMPLACER ou SUPPRIMER — avant d'être exécutées. Et si un remplacement se termine sans aucune ligne exploitable, il est annulé automatiquement : je ne voulais pas qu'un mauvais fichier puisse vider la base.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L'export suit la même logique. Le fichier produit contient exactement les six colonnes que l'import attend : ce qui sort peut donc être modifié dans Excel et réimporté directement.</a:t>
            </a:r>
          </a:p>
          <a:p/>
          <a:p>
            <a:r>
              <a:t>Deux détails m'ont coûté du temps. Pour le CSV, il faut ajouter une marque d'encodage en tête de fichier, sinon Excel affiche mal les accents. Pour le XLSX, il faut forcer la colonne du mois en format texte, sinon Excel la convertit en date et l'import ne la reconnaît plus.</a:t>
            </a:r>
          </a:p>
          <a:p/>
          <a:p>
            <a:r>
              <a:t>Dans l'autre sens, l'API n'accepte que le CSV. Quand on dépose un fichier Excel, c'est donc le navigateur qui le convertit avant l'envoi : il retrouve la ligne d'en-têtes, même si elle n'est pas la première, et lit la vraie valeur de date plutôt que son affichage.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veux être précis sur ce point, parce que le mot « prévision » fait souvent penser à de l'intelligence artificielle. Ce n'est pas le cas ici, et c'est un choix.</a:t>
            </a:r>
          </a:p>
          <a:p/>
          <a:p>
            <a:r>
              <a:t>La méthode est statistique et déterministe. Elle combine deux éléments. Le premier, c'est un profil saisonnier : pour chaque mois de l'année, je fais la moyenne des valeurs observées sur les années disponibles. Ça capture le rythme habituel — par exemple un creux en août.</a:t>
            </a:r>
          </a:p>
          <a:p/>
          <a:p>
            <a:r>
              <a:t>Le second élément, c'est la tendance. Je calcule le total de chaque année, et j'ajuste une régression linéaire simple, par moindres carrés, sur ces totaux. La pente me dit si l'activité augmente ou diminue. La cible de l'année suivante, c'est le dernier total annuel auquel j'ajoute cette pente.</a:t>
            </a:r>
          </a:p>
          <a:p/>
          <a:p>
            <a:r>
              <a:t>Enfin, je mets le profil mensuel à l'échelle pour qu'il atteigne cette cible. Les valeurs sont arrondies, et une valeur négative est ramenée à zéro, parce qu'un stock négatif n'a pas de sens. Le calcul est fait deux fois : une fois pour les entrées, une fois pour les sorties.</a:t>
            </a:r>
          </a:p>
          <a:p/>
          <a:p>
            <a:r>
              <a:t>Pourquoi ce choix plutôt qu'un modèle d'apprentissage ? Trois raisons. D'abord parce que je peux l'expliquer en une phrase à un magasinier, ce qui compte pour qu'un outil soit utilisé. Ensuite parce qu'il n'y a rien à installer, rien à entraîner, rien à stocker : le script n'utilise que la bibliothèque standard de Python. Et enfin parce qu'avec un historique mensuel de quelques années, un modèle d'apprentissage n'aurait pas assez de données pour faire mieux.</a:t>
            </a:r>
          </a:p>
          <a:p/>
          <a:p>
            <a:r>
              <a:t>Les limites, je les assume : il n'y a pas d'intervalle de confiance, avec une seule année il n'y a pas de tendance possible, un mois manquant déforme le profil, et aucune donnée externe comme les commandes clients n'entre dans le calcul.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comment les deux mondes communiquent. L'utilisateur choisit un article, ou l'option « Général » qui agrège tous les articles. React envoie une requête POST à la route de prévision.</a:t>
            </a:r>
          </a:p>
          <a:p/>
          <a:p>
            <a:r>
              <a:t>L'API lit les mouvements en base, les regroupe par mois, puis lance le script Python comme un processus séparé. Elle lui envoie les données en JSON par l'entrée standard et lit le résultat sur la sortie standard. Python renvoie douze valeurs d'entrées, douze valeurs de sorties et l'année concernée.</a:t>
            </a:r>
          </a:p>
          <a:p/>
          <a:p>
            <a:r>
              <a:t>L'interface trace alors les deux courbes et affiche le total annuel prévu. Je tiens à préciser un point : cette opération est en lecture seule. La prévision ne crée aucun mouvement et ne modifie rien en base — c'est une aide à la décision, pas une écriture.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partie transforme ces données en décisions.</a:t>
            </a:r>
          </a:p>
          <a:p/>
          <a:p>
            <a:r>
              <a:t>Le tableau de bord donne quatre indicateurs immédiats : le nombre de magasins actifs, le taux d'occupation moyen, le nombre d'articles passés sous leur seuil, et le dernier mois pour lequel des données ont été importées — cet indicateur signale qu'un import a été oublié.</a:t>
            </a:r>
          </a:p>
          <a:p/>
          <a:p>
            <a:r>
              <a:t>Les graphiques permettent de comparer les entrées et les sorties sur une année, de voir le remplissage par article et les dix articles qui bougent le plus.</a:t>
            </a:r>
          </a:p>
          <a:p/>
          <a:p>
            <a:r>
              <a:t>La vue dont je suis le plus satisfait, c'est le plan d'entrepôt. Plutôt qu'un tableau de pourcentages, je redessine l'entrepôt : chaque allée est un rayon, chaque bloc une zone, chaque casier une case. La hauteur remplie correspond au taux d'occupation réel, et la largeur du casier est proportionnelle à sa capacité — une grande case occupe donc vraiment plus de place à l'écran. On repère un déséquilibre d'un coup d'œil, sans lire un seul chiffre. Sur le jeu de démonstration, l'occupation globale est de vingt-cinq pour cent, soit dix-neuf mille deux cent cinquante unités sur soixante-seize mille.</a:t>
            </a:r>
          </a:p>
          <a:p/>
          <a:p>
            <a:r>
              <a:t>Et la carte situe les magasins, dont les coordonnées ont été obtenues automatiquement à partir de la ville et du pays.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la sécurité, je distingue deux choses : protéger l'accès, et protéger les données elles-mêmes.</a:t>
            </a:r>
          </a:p>
          <a:p/>
          <a:p>
            <a:r>
              <a:t>Pour l'accès, l'authentification se fait par jeton JWT signé, valable une heure. Le jeton contient le rôle, et chaque opération d'écriture de l'API exige explicitement le rôle administrateur. Les mots de passe ne sont pas stockés, ni même simplement hachés : j'utilise PBKDF2 avec cent mille itérations et un sel aléatoire différent pour chaque compte, avec une comparaison à temps constant. C'est une correction que j'ai apportée en cours de projet, parce que ma première version utilisait un simple SHA-256, qui est trop rapide donc trop facile à attaquer.</a:t>
            </a:r>
          </a:p>
          <a:p/>
          <a:p>
            <a:r>
              <a:t>J'ai aussi sorti les secrets du dépôt — chaîne de connexion et clé de signature — et restreint les origines autorisées à appeler l'API.</a:t>
            </a:r>
          </a:p>
          <a:p/>
          <a:p>
            <a:r>
              <a:t>Pour les données, la protection passe par les contraintes dont j'ai parlé : index uniques, transactions, refus du stock négatif, et suppressions qui archivent au lieu d'effacer.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difficultés ont vraiment marqué ce stage.</a:t>
            </a:r>
          </a:p>
          <a:p/>
          <a:p>
            <a:r>
              <a:t>La première a été de partir d'un prototype que je n'avais pas écrit, avec une charte graphique que je devais conserver. La tentation était de tout réécrire à ma façon. J'ai pris le temps de lire le code et de comprendre sa logique, et j'ai construit dessus. Ça m'a coûté quelques jours au début, mais ça m'a évité de repartir de zéro.</a:t>
            </a:r>
          </a:p>
          <a:p/>
          <a:p>
            <a:r>
              <a:t>La deuxième, c'est celle qui m'a pris le plus de temps : les fichiers réels ne ressemblent pas aux fichiers d'exemple. J'ai dû traiter les encodages, les séparateurs, les dates converties par Excel, les décimales. Ma solution a été de corriger plutôt que de rejeter, mais en gardant la trace de chaque correction.</a:t>
            </a:r>
          </a:p>
          <a:p/>
          <a:p>
            <a:r>
              <a:t>La troisième difficulté était un vrai défaut de conception de ma part. Dans ma première version, supprimer une case supprimait ses mouvements en cascade : on perdait l'historique d'un article parce qu'on avait réorganisé l'entrepôt. J'ai repris ce mécanisme pour que la suppression détache les mouvements en conservant l'ancien emplacement et la date.</a:t>
            </a:r>
          </a:p>
          <a:p/>
          <a:p>
            <a:r>
              <a:t>Enfin, j'ai eu un bug de mise à jour sur les quatre niveaux de la hiérarchie. Il m'a fallu isoler le problème méthodiquement plutôt que de modifier au hasard. C'est probablement ce que j'ai le plus appris : chercher la cause avant de chercher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bilan. Côté réalisé : quarante-deux opérations HTTP, sept entités, cinq sections d'interface, l'import contrôlé avec son aperçu, l'export réimportable, la prévision à douze mois, et l'authentification avec les rôles. L'ensemble a été testé sur un jeu de sept cent vingt mouvements réels remontant à 2016.</a:t>
            </a:r>
          </a:p>
          <a:p/>
          <a:p>
            <a:r>
              <a:t>Je préfère annoncer moi-même les limites. Il n'y a pas de tests automatisés dans le dépôt : mes vérifications ont été manuelles, avec Swagger et l'interface. La recherche et la pagination sont calculées dans le navigateur, ce qui convient pour quelques centaines de lignes mais ne tiendrait pas à grande échelle. La prévision est volontairement simple et je n'ai pas mesuré son erreur. Et l'application tourne en environnement de développement, pas en production.</a:t>
            </a:r>
          </a:p>
          <a:p/>
          <a:p>
            <a:r>
              <a:t>Ces limites donnent directement les perspectives : passer la pagination côté serveur, ajouter des tests, et surtout comparer les prévisions aux réalisations pour pouvoir dire si la méthode est bonne — et c'est seulement avec cette mesure qu'il deviendrait pertinent d'essayer un modèle plus avancé.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je reviens à la question du début. Le problème était d'obtenir une vision fiable et localisée des stocks, tout en contrôlant les données qui entrent.</a:t>
            </a:r>
          </a:p>
          <a:p/>
          <a:p>
            <a:r>
              <a:t>La solution que j'ai développée relie la hiérarchie physique de l'entrepôt aux mouvements mensuels, contrôle systématiquement ce qui entre en base, et restitue des indicateurs et une projection à douze mois.</a:t>
            </a:r>
          </a:p>
          <a:p/>
          <a:p>
            <a:r>
              <a:t>Sur le plan personnel, ce stage m'a fait travailler une architecture en couches et une API REST complète, la modélisation relationnelle avec Entity Framework, et surtout la qualité des données — qui est le sujet sur lequel j'ai passé le plus de temps et qui est celui que j'avais le plus sous-estimé. Il m'a aussi donné envie d'approfondir la data science, en commençant par mesurer sérieusement la qualité d'une prévision avant d'en chercher une plus complexe.</a:t>
            </a:r>
          </a:p>
          <a:p/>
          <a:p>
            <a:r>
              <a:t>Je vous remercie pour votre attention.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ET RÉPONSES COURTES</a:t>
            </a:r>
          </a:p>
          <a:p/>
          <a:p>
            <a:r>
              <a:t>« C'est de l'intelligence artificielle ? » — Non. C'est une méthode statistique : une moyenne mensuelle ajustée par une tendance annuelle calculée par régression linéaire. Aucun apprentissage.</a:t>
            </a:r>
          </a:p>
          <a:p/>
          <a:p>
            <a:r>
              <a:t>« Pourquoi Python et pas C# ? » — Pour isoler le calcul. Le script est indépendant de l'API et peut être remplacé par une méthode plus avancée sans toucher au reste.</a:t>
            </a:r>
          </a:p>
          <a:p/>
          <a:p>
            <a:r>
              <a:t>« Quelle est la précision de la prévision ? » — Je ne l'ai pas mesurée, et je ne veux pas avancer un chiffre que je n'ai pas. Pour la mesurer, je garderais les dernières années comme témoin et je comparerais le prévu au réalisé.</a:t>
            </a:r>
          </a:p>
          <a:p/>
          <a:p>
            <a:r>
              <a:t>« Pourquoi un article peut-il être dans plusieurs cases ? » — Parce que c'est le cas dans l'entrepôt. D'où une relation plusieurs-à-plusieurs et un emplacement recalculé à chaque changement.</a:t>
            </a:r>
          </a:p>
          <a:p/>
          <a:p>
            <a:r>
              <a:t>« Et si deux personnes importent en même temps ? » — Chaque import est dans une transaction et les index uniques empêchent les doublons. Je n'ai pas fait de test de charge.</a:t>
            </a:r>
          </a:p>
          <a:p/>
          <a:p>
            <a:r>
              <a:t>« Est-ce déployé en production ? » — Non, l'application tourne en environnement de développement. Un déploiement demanderait HTTPS et un hébergement.</a:t>
            </a:r>
          </a:p>
          <a:p/>
          <a:p>
            <a:r>
              <a:t>« Que se passe-t-il si le fichier importé est mauvais ? » — L'aperçu le montre avant toute écriture, et rien n'est enregistré tant que l'utilisateur n'a pas confirmé.</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utiliser en réponse à une question sur le déroulement technique de l'import : l'admin sélectionne le fichier, React l'envoie à l'API, le service charge les référentiels, nettoie et regroupe, écrit dans une transaction, synchronise les statuts, et renvoie un rapport détaillé que l'interface affiche.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Extraits à montrer uniquement si le jury demande à voir du code. Chacun démontre une décision : la méthode de prévision écrite à la main, la validation d'une chronologie, l'aperçu obtenu par un rollback de transaction, et une contrainte portée par la base grâce à un index unique filtré.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81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46304" y="0"/>
            <a:ext cx="12045391" cy="18288"/>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371600"/>
            <a:ext cx="10058400" cy="274320"/>
          </a:xfrm>
          <a:prstGeom prst="rect">
            <a:avLst/>
          </a:prstGeom>
          <a:noFill/>
        </p:spPr>
        <p:txBody>
          <a:bodyPr wrap="square" lIns="0" rIns="0" tIns="0" bIns="0" anchor="t">
            <a:spAutoFit/>
          </a:bodyPr>
          <a:lstStyle/>
          <a:p>
            <a:r>
              <a:rPr sz="1150" b="1">
                <a:solidFill>
                  <a:srgbClr val="8FB8D2"/>
                </a:solidFill>
                <a:latin typeface="Segoe UI"/>
              </a:rPr>
              <a:t>SOUTENANCE DE STAGE  ·  EMSI TANGER  ·  SEPTEMBRE 2026</a:t>
            </a:r>
          </a:p>
        </p:txBody>
      </p:sp>
      <p:sp>
        <p:nvSpPr>
          <p:cNvPr id="5" name="TextBox 4"/>
          <p:cNvSpPr txBox="1"/>
          <p:nvPr/>
        </p:nvSpPr>
        <p:spPr>
          <a:xfrm>
            <a:off x="1005840" y="1874519"/>
            <a:ext cx="10058400" cy="1463040"/>
          </a:xfrm>
          <a:prstGeom prst="rect">
            <a:avLst/>
          </a:prstGeom>
          <a:noFill/>
        </p:spPr>
        <p:txBody>
          <a:bodyPr wrap="square" lIns="0" rIns="0" tIns="0" bIns="0" anchor="t">
            <a:spAutoFit/>
          </a:bodyPr>
          <a:lstStyle/>
          <a:p>
            <a:r>
              <a:rPr sz="4600" b="1">
                <a:solidFill>
                  <a:srgbClr val="FFFFFF"/>
                </a:solidFill>
                <a:latin typeface="Segoe UI Semibold"/>
              </a:rPr>
              <a:t>Gestion et prévision des stocks</a:t>
            </a:r>
          </a:p>
          <a:p>
            <a:pPr>
              <a:spcBef>
                <a:spcPts val="600"/>
              </a:spcBef>
            </a:pPr>
            <a:r>
              <a:rPr sz="1900">
                <a:solidFill>
                  <a:srgbClr val="B8C9D3"/>
                </a:solidFill>
                <a:latin typeface="Segoe UI"/>
              </a:rPr>
              <a:t>Application web de gestion des stocks — GMD Metal Tanger</a:t>
            </a:r>
          </a:p>
        </p:txBody>
      </p:sp>
      <p:sp>
        <p:nvSpPr>
          <p:cNvPr id="6" name="Rectangle 5"/>
          <p:cNvSpPr/>
          <p:nvPr/>
        </p:nvSpPr>
        <p:spPr>
          <a:xfrm>
            <a:off x="1005840" y="3886200"/>
            <a:ext cx="2011680" cy="3175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251960"/>
            <a:ext cx="5120640" cy="1463040"/>
          </a:xfrm>
          <a:prstGeom prst="rect">
            <a:avLst/>
          </a:prstGeom>
          <a:noFill/>
        </p:spPr>
        <p:txBody>
          <a:bodyPr wrap="square" lIns="0" rIns="0" tIns="0" bIns="0" anchor="t">
            <a:spAutoFit/>
          </a:bodyPr>
          <a:lstStyle/>
          <a:p>
            <a:pPr>
              <a:lnSpc>
                <a:spcPct val="100000"/>
              </a:lnSpc>
              <a:spcAft>
                <a:spcPts val="500"/>
              </a:spcAft>
            </a:pPr>
            <a:r>
              <a:rPr b="0" sz="1500">
                <a:solidFill>
                  <a:srgbClr val="FFFFFF"/>
                </a:solidFill>
                <a:latin typeface="Segoe UI"/>
              </a:rPr>
              <a:t>Réalisé par : </a:t>
            </a:r>
            <a:r>
              <a:rPr b="1" sz="1500">
                <a:solidFill>
                  <a:srgbClr val="FFFFFF"/>
                </a:solidFill>
                <a:latin typeface="Segoe UI"/>
              </a:rPr>
              <a:t>Nizar BAKALI</a:t>
            </a:r>
          </a:p>
          <a:p>
            <a:pPr>
              <a:lnSpc>
                <a:spcPct val="100000"/>
              </a:lnSpc>
              <a:spcAft>
                <a:spcPts val="300"/>
              </a:spcAft>
            </a:pPr>
            <a:r>
              <a:rPr b="0" sz="1300">
                <a:solidFill>
                  <a:srgbClr val="A9BCC7"/>
                </a:solidFill>
                <a:latin typeface="Segoe UI"/>
              </a:rPr>
              <a:t>Filière Ingénierie Informatique et Réseaux</a:t>
            </a:r>
          </a:p>
          <a:p>
            <a:pPr>
              <a:lnSpc>
                <a:spcPct val="100000"/>
              </a:lnSpc>
              <a:spcAft>
                <a:spcPts val="300"/>
              </a:spcAft>
            </a:pPr>
            <a:r>
              <a:rPr b="0" sz="1300">
                <a:solidFill>
                  <a:srgbClr val="A9BCC7"/>
                </a:solidFill>
                <a:latin typeface="Segoe UI"/>
              </a:rPr>
              <a:t>1re année cycle d'ingénieur — Année universitaire 2025-2026</a:t>
            </a:r>
          </a:p>
        </p:txBody>
      </p:sp>
      <p:sp>
        <p:nvSpPr>
          <p:cNvPr id="8" name="TextBox 7"/>
          <p:cNvSpPr txBox="1"/>
          <p:nvPr/>
        </p:nvSpPr>
        <p:spPr>
          <a:xfrm>
            <a:off x="6766560" y="4251960"/>
            <a:ext cx="4389120" cy="1463040"/>
          </a:xfrm>
          <a:prstGeom prst="rect">
            <a:avLst/>
          </a:prstGeom>
          <a:noFill/>
        </p:spPr>
        <p:txBody>
          <a:bodyPr wrap="square" lIns="0" rIns="0" tIns="0" bIns="0" anchor="t">
            <a:spAutoFit/>
          </a:bodyPr>
          <a:lstStyle/>
          <a:p>
            <a:pPr>
              <a:lnSpc>
                <a:spcPct val="100000"/>
              </a:lnSpc>
              <a:spcAft>
                <a:spcPts val="400"/>
              </a:spcAft>
            </a:pPr>
            <a:r>
              <a:rPr b="0" sz="1300">
                <a:solidFill>
                  <a:srgbClr val="A9BCC7"/>
                </a:solidFill>
                <a:latin typeface="Segoe UI"/>
              </a:rPr>
              <a:t>Tuteur pédagogique : </a:t>
            </a:r>
            <a:r>
              <a:rPr b="1" sz="1300">
                <a:solidFill>
                  <a:srgbClr val="A9BCC7"/>
                </a:solidFill>
                <a:latin typeface="Segoe UI"/>
              </a:rPr>
              <a:t>Mme Imane SAMIR</a:t>
            </a:r>
          </a:p>
          <a:p>
            <a:pPr>
              <a:lnSpc>
                <a:spcPct val="100000"/>
              </a:lnSpc>
              <a:spcAft>
                <a:spcPts val="400"/>
              </a:spcAft>
            </a:pPr>
            <a:r>
              <a:rPr b="0" sz="1300">
                <a:solidFill>
                  <a:srgbClr val="A9BCC7"/>
                </a:solidFill>
                <a:latin typeface="Segoe UI"/>
              </a:rPr>
              <a:t>Tuteur entreprise : </a:t>
            </a:r>
            <a:r>
              <a:rPr b="1" sz="1300">
                <a:solidFill>
                  <a:srgbClr val="A9BCC7"/>
                </a:solidFill>
                <a:latin typeface="Segoe UI"/>
              </a:rPr>
              <a:t>M. Hicham SAIDI</a:t>
            </a:r>
          </a:p>
          <a:p>
            <a:pPr>
              <a:lnSpc>
                <a:spcPct val="100000"/>
              </a:lnSpc>
              <a:spcAft>
                <a:spcPts val="400"/>
              </a:spcAft>
            </a:pPr>
            <a:r>
              <a:rPr b="0" sz="1300">
                <a:solidFill>
                  <a:srgbClr val="A9BCC7"/>
                </a:solidFill>
                <a:latin typeface="Segoe UI"/>
              </a:rPr>
              <a:t>École Marocaine des Sciences de l'Ingénieur — Tanger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566928"/>
          </a:xfrm>
          <a:prstGeom prst="rect">
            <a:avLst/>
          </a:prstGeom>
          <a:noFill/>
        </p:spPr>
        <p:txBody>
          <a:bodyPr wrap="square" lIns="0" rIns="0" tIns="0" bIns="0" anchor="t">
            <a:spAutoFit/>
          </a:bodyPr>
          <a:lstStyle/>
          <a:p>
            <a:r>
              <a:rPr sz="2700" b="1">
                <a:solidFill>
                  <a:srgbClr val="12181D"/>
                </a:solidFill>
                <a:latin typeface="Segoe UI Semibold"/>
              </a:rPr>
              <a:t>Plan de la présentation</a:t>
            </a:r>
          </a:p>
        </p:txBody>
      </p:sp>
      <p:sp>
        <p:nvSpPr>
          <p:cNvPr id="3" name="Rectangle 2"/>
          <p:cNvSpPr/>
          <p:nvPr/>
        </p:nvSpPr>
        <p:spPr>
          <a:xfrm>
            <a:off x="658368" y="102412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5" name="TextBox 4"/>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a:t>
            </a:r>
          </a:p>
        </p:txBody>
      </p:sp>
      <p:sp>
        <p:nvSpPr>
          <p:cNvPr id="6" name="Rectangle 5"/>
          <p:cNvSpPr/>
          <p:nvPr/>
        </p:nvSpPr>
        <p:spPr>
          <a:xfrm>
            <a:off x="658368" y="1600200"/>
            <a:ext cx="566928" cy="566928"/>
          </a:xfrm>
          <a:prstGeom prst="rect">
            <a:avLst/>
          </a:prstGeom>
          <a:solidFill>
            <a:srgbClr val="E2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19072"/>
            <a:ext cx="566928" cy="329184"/>
          </a:xfrm>
          <a:prstGeom prst="rect">
            <a:avLst/>
          </a:prstGeom>
          <a:noFill/>
        </p:spPr>
        <p:txBody>
          <a:bodyPr wrap="square" lIns="0" rIns="0" tIns="0" bIns="0" anchor="t">
            <a:spAutoFit/>
          </a:bodyPr>
          <a:lstStyle/>
          <a:p>
            <a:pPr algn="ctr"/>
            <a:r>
              <a:rPr sz="1400" b="1">
                <a:solidFill>
                  <a:srgbClr val="1F6187"/>
                </a:solidFill>
                <a:latin typeface="Segoe UI"/>
              </a:rPr>
              <a:t>01</a:t>
            </a:r>
          </a:p>
        </p:txBody>
      </p:sp>
      <p:sp>
        <p:nvSpPr>
          <p:cNvPr id="8" name="TextBox 7"/>
          <p:cNvSpPr txBox="1"/>
          <p:nvPr/>
        </p:nvSpPr>
        <p:spPr>
          <a:xfrm>
            <a:off x="1527048" y="1728216"/>
            <a:ext cx="8229600" cy="365760"/>
          </a:xfrm>
          <a:prstGeom prst="rect">
            <a:avLst/>
          </a:prstGeom>
          <a:noFill/>
        </p:spPr>
        <p:txBody>
          <a:bodyPr wrap="square" lIns="0" rIns="0" tIns="0" bIns="0" anchor="t">
            <a:spAutoFit/>
          </a:bodyPr>
          <a:lstStyle/>
          <a:p>
            <a:r>
              <a:rPr sz="1900">
                <a:solidFill>
                  <a:srgbClr val="12181D"/>
                </a:solidFill>
                <a:latin typeface="Segoe UI"/>
              </a:rPr>
              <a:t>Contexte et problématique</a:t>
            </a:r>
          </a:p>
        </p:txBody>
      </p:sp>
      <p:sp>
        <p:nvSpPr>
          <p:cNvPr id="9" name="Rectangle 8"/>
          <p:cNvSpPr/>
          <p:nvPr/>
        </p:nvSpPr>
        <p:spPr>
          <a:xfrm>
            <a:off x="658368" y="2240280"/>
            <a:ext cx="10874959"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313432"/>
            <a:ext cx="566928" cy="566928"/>
          </a:xfrm>
          <a:prstGeom prst="rect">
            <a:avLst/>
          </a:prstGeom>
          <a:solidFill>
            <a:srgbClr val="E2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432304"/>
            <a:ext cx="566928" cy="329184"/>
          </a:xfrm>
          <a:prstGeom prst="rect">
            <a:avLst/>
          </a:prstGeom>
          <a:noFill/>
        </p:spPr>
        <p:txBody>
          <a:bodyPr wrap="square" lIns="0" rIns="0" tIns="0" bIns="0" anchor="t">
            <a:spAutoFit/>
          </a:bodyPr>
          <a:lstStyle/>
          <a:p>
            <a:pPr algn="ctr"/>
            <a:r>
              <a:rPr sz="1400" b="1">
                <a:solidFill>
                  <a:srgbClr val="1F6187"/>
                </a:solidFill>
                <a:latin typeface="Segoe UI"/>
              </a:rPr>
              <a:t>02</a:t>
            </a:r>
          </a:p>
        </p:txBody>
      </p:sp>
      <p:sp>
        <p:nvSpPr>
          <p:cNvPr id="12" name="TextBox 11"/>
          <p:cNvSpPr txBox="1"/>
          <p:nvPr/>
        </p:nvSpPr>
        <p:spPr>
          <a:xfrm>
            <a:off x="1527048" y="2441448"/>
            <a:ext cx="8229600" cy="365760"/>
          </a:xfrm>
          <a:prstGeom prst="rect">
            <a:avLst/>
          </a:prstGeom>
          <a:noFill/>
        </p:spPr>
        <p:txBody>
          <a:bodyPr wrap="square" lIns="0" rIns="0" tIns="0" bIns="0" anchor="t">
            <a:spAutoFit/>
          </a:bodyPr>
          <a:lstStyle/>
          <a:p>
            <a:r>
              <a:rPr sz="1900">
                <a:solidFill>
                  <a:srgbClr val="12181D"/>
                </a:solidFill>
                <a:latin typeface="Segoe UI"/>
              </a:rPr>
              <a:t>Analyse et conception</a:t>
            </a:r>
          </a:p>
        </p:txBody>
      </p:sp>
      <p:sp>
        <p:nvSpPr>
          <p:cNvPr id="13" name="Rectangle 12"/>
          <p:cNvSpPr/>
          <p:nvPr/>
        </p:nvSpPr>
        <p:spPr>
          <a:xfrm>
            <a:off x="658368" y="2953512"/>
            <a:ext cx="10874959"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026664"/>
            <a:ext cx="566928" cy="566928"/>
          </a:xfrm>
          <a:prstGeom prst="rect">
            <a:avLst/>
          </a:prstGeom>
          <a:solidFill>
            <a:srgbClr val="E2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145536"/>
            <a:ext cx="566928" cy="329184"/>
          </a:xfrm>
          <a:prstGeom prst="rect">
            <a:avLst/>
          </a:prstGeom>
          <a:noFill/>
        </p:spPr>
        <p:txBody>
          <a:bodyPr wrap="square" lIns="0" rIns="0" tIns="0" bIns="0" anchor="t">
            <a:spAutoFit/>
          </a:bodyPr>
          <a:lstStyle/>
          <a:p>
            <a:pPr algn="ctr"/>
            <a:r>
              <a:rPr sz="1400" b="1">
                <a:solidFill>
                  <a:srgbClr val="1F6187"/>
                </a:solidFill>
                <a:latin typeface="Segoe UI"/>
              </a:rPr>
              <a:t>03</a:t>
            </a:r>
          </a:p>
        </p:txBody>
      </p:sp>
      <p:sp>
        <p:nvSpPr>
          <p:cNvPr id="16" name="TextBox 15"/>
          <p:cNvSpPr txBox="1"/>
          <p:nvPr/>
        </p:nvSpPr>
        <p:spPr>
          <a:xfrm>
            <a:off x="1527048" y="3154680"/>
            <a:ext cx="8229600" cy="365760"/>
          </a:xfrm>
          <a:prstGeom prst="rect">
            <a:avLst/>
          </a:prstGeom>
          <a:noFill/>
        </p:spPr>
        <p:txBody>
          <a:bodyPr wrap="square" lIns="0" rIns="0" tIns="0" bIns="0" anchor="t">
            <a:spAutoFit/>
          </a:bodyPr>
          <a:lstStyle/>
          <a:p>
            <a:r>
              <a:rPr sz="1900">
                <a:solidFill>
                  <a:srgbClr val="12181D"/>
                </a:solidFill>
                <a:latin typeface="Segoe UI"/>
              </a:rPr>
              <a:t>Technologies et architecture</a:t>
            </a:r>
          </a:p>
        </p:txBody>
      </p:sp>
      <p:sp>
        <p:nvSpPr>
          <p:cNvPr id="17" name="Rectangle 16"/>
          <p:cNvSpPr/>
          <p:nvPr/>
        </p:nvSpPr>
        <p:spPr>
          <a:xfrm>
            <a:off x="658368" y="3666744"/>
            <a:ext cx="10874959"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39896"/>
            <a:ext cx="566928" cy="566928"/>
          </a:xfrm>
          <a:prstGeom prst="rect">
            <a:avLst/>
          </a:prstGeom>
          <a:solidFill>
            <a:srgbClr val="E2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858768"/>
            <a:ext cx="566928" cy="329184"/>
          </a:xfrm>
          <a:prstGeom prst="rect">
            <a:avLst/>
          </a:prstGeom>
          <a:noFill/>
        </p:spPr>
        <p:txBody>
          <a:bodyPr wrap="square" lIns="0" rIns="0" tIns="0" bIns="0" anchor="t">
            <a:spAutoFit/>
          </a:bodyPr>
          <a:lstStyle/>
          <a:p>
            <a:pPr algn="ctr"/>
            <a:r>
              <a:rPr sz="1400" b="1">
                <a:solidFill>
                  <a:srgbClr val="1F6187"/>
                </a:solidFill>
                <a:latin typeface="Segoe UI"/>
              </a:rPr>
              <a:t>04</a:t>
            </a:r>
          </a:p>
        </p:txBody>
      </p:sp>
      <p:sp>
        <p:nvSpPr>
          <p:cNvPr id="20" name="TextBox 19"/>
          <p:cNvSpPr txBox="1"/>
          <p:nvPr/>
        </p:nvSpPr>
        <p:spPr>
          <a:xfrm>
            <a:off x="1527048" y="3867912"/>
            <a:ext cx="8229600" cy="365760"/>
          </a:xfrm>
          <a:prstGeom prst="rect">
            <a:avLst/>
          </a:prstGeom>
          <a:noFill/>
        </p:spPr>
        <p:txBody>
          <a:bodyPr wrap="square" lIns="0" rIns="0" tIns="0" bIns="0" anchor="t">
            <a:spAutoFit/>
          </a:bodyPr>
          <a:lstStyle/>
          <a:p>
            <a:r>
              <a:rPr sz="1900">
                <a:solidFill>
                  <a:srgbClr val="12181D"/>
                </a:solidFill>
                <a:latin typeface="Segoe UI"/>
              </a:rPr>
              <a:t>Réalisation et fonctionnalités</a:t>
            </a:r>
          </a:p>
        </p:txBody>
      </p:sp>
      <p:sp>
        <p:nvSpPr>
          <p:cNvPr id="21" name="Rectangle 20"/>
          <p:cNvSpPr/>
          <p:nvPr/>
        </p:nvSpPr>
        <p:spPr>
          <a:xfrm>
            <a:off x="658368" y="4379976"/>
            <a:ext cx="10874959"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53128"/>
            <a:ext cx="566928" cy="566928"/>
          </a:xfrm>
          <a:prstGeom prst="rect">
            <a:avLst/>
          </a:prstGeom>
          <a:solidFill>
            <a:srgbClr val="E2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572000"/>
            <a:ext cx="566928" cy="329184"/>
          </a:xfrm>
          <a:prstGeom prst="rect">
            <a:avLst/>
          </a:prstGeom>
          <a:noFill/>
        </p:spPr>
        <p:txBody>
          <a:bodyPr wrap="square" lIns="0" rIns="0" tIns="0" bIns="0" anchor="t">
            <a:spAutoFit/>
          </a:bodyPr>
          <a:lstStyle/>
          <a:p>
            <a:pPr algn="ctr"/>
            <a:r>
              <a:rPr sz="1400" b="1">
                <a:solidFill>
                  <a:srgbClr val="1F6187"/>
                </a:solidFill>
                <a:latin typeface="Segoe UI"/>
              </a:rPr>
              <a:t>05</a:t>
            </a:r>
          </a:p>
        </p:txBody>
      </p:sp>
      <p:sp>
        <p:nvSpPr>
          <p:cNvPr id="24" name="TextBox 23"/>
          <p:cNvSpPr txBox="1"/>
          <p:nvPr/>
        </p:nvSpPr>
        <p:spPr>
          <a:xfrm>
            <a:off x="1527048" y="4581144"/>
            <a:ext cx="8229600" cy="365760"/>
          </a:xfrm>
          <a:prstGeom prst="rect">
            <a:avLst/>
          </a:prstGeom>
          <a:noFill/>
        </p:spPr>
        <p:txBody>
          <a:bodyPr wrap="square" lIns="0" rIns="0" tIns="0" bIns="0" anchor="t">
            <a:spAutoFit/>
          </a:bodyPr>
          <a:lstStyle/>
          <a:p>
            <a:r>
              <a:rPr sz="1900">
                <a:solidFill>
                  <a:srgbClr val="12181D"/>
                </a:solidFill>
                <a:latin typeface="Segoe UI"/>
              </a:rPr>
              <a:t>Import, export et prévision</a:t>
            </a:r>
          </a:p>
        </p:txBody>
      </p:sp>
      <p:sp>
        <p:nvSpPr>
          <p:cNvPr id="25" name="Rectangle 24"/>
          <p:cNvSpPr/>
          <p:nvPr/>
        </p:nvSpPr>
        <p:spPr>
          <a:xfrm>
            <a:off x="658368" y="5093208"/>
            <a:ext cx="10874959"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5166360"/>
            <a:ext cx="566928" cy="566928"/>
          </a:xfrm>
          <a:prstGeom prst="rect">
            <a:avLst/>
          </a:prstGeom>
          <a:solidFill>
            <a:srgbClr val="E2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5285232"/>
            <a:ext cx="566928" cy="329184"/>
          </a:xfrm>
          <a:prstGeom prst="rect">
            <a:avLst/>
          </a:prstGeom>
          <a:noFill/>
        </p:spPr>
        <p:txBody>
          <a:bodyPr wrap="square" lIns="0" rIns="0" tIns="0" bIns="0" anchor="t">
            <a:spAutoFit/>
          </a:bodyPr>
          <a:lstStyle/>
          <a:p>
            <a:pPr algn="ctr"/>
            <a:r>
              <a:rPr sz="1400" b="1">
                <a:solidFill>
                  <a:srgbClr val="1F6187"/>
                </a:solidFill>
                <a:latin typeface="Segoe UI"/>
              </a:rPr>
              <a:t>06</a:t>
            </a:r>
          </a:p>
        </p:txBody>
      </p:sp>
      <p:sp>
        <p:nvSpPr>
          <p:cNvPr id="28" name="TextBox 27"/>
          <p:cNvSpPr txBox="1"/>
          <p:nvPr/>
        </p:nvSpPr>
        <p:spPr>
          <a:xfrm>
            <a:off x="1527048" y="5294376"/>
            <a:ext cx="8229600" cy="365760"/>
          </a:xfrm>
          <a:prstGeom prst="rect">
            <a:avLst/>
          </a:prstGeom>
          <a:noFill/>
        </p:spPr>
        <p:txBody>
          <a:bodyPr wrap="square" lIns="0" rIns="0" tIns="0" bIns="0" anchor="t">
            <a:spAutoFit/>
          </a:bodyPr>
          <a:lstStyle/>
          <a:p>
            <a:r>
              <a:rPr sz="1900">
                <a:solidFill>
                  <a:srgbClr val="12181D"/>
                </a:solidFill>
                <a:latin typeface="Segoe UI"/>
              </a:rPr>
              <a:t>Résultats et bilan</a:t>
            </a:r>
          </a:p>
        </p:txBody>
      </p:sp>
      <p:sp>
        <p:nvSpPr>
          <p:cNvPr id="29" name="Rectangle 28"/>
          <p:cNvSpPr/>
          <p:nvPr/>
        </p:nvSpPr>
        <p:spPr>
          <a:xfrm>
            <a:off x="658368" y="5806440"/>
            <a:ext cx="10874959"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01 — CONTEXTE ET PROBLÉMATIQUE</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GMD Metal Tanger</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3</a:t>
            </a:r>
          </a:p>
        </p:txBody>
      </p:sp>
      <p:sp>
        <p:nvSpPr>
          <p:cNvPr id="7" name="TextBox 6"/>
          <p:cNvSpPr txBox="1"/>
          <p:nvPr/>
        </p:nvSpPr>
        <p:spPr>
          <a:xfrm>
            <a:off x="658368" y="1481328"/>
            <a:ext cx="6583680" cy="3108960"/>
          </a:xfrm>
          <a:prstGeom prst="rect">
            <a:avLst/>
          </a:prstGeom>
          <a:noFill/>
        </p:spPr>
        <p:txBody>
          <a:bodyPr wrap="square" lIns="0" rIns="0" tIns="0" bIns="0" anchor="t">
            <a:spAutoFit/>
          </a:bodyPr>
          <a:lstStyle/>
          <a:p>
            <a:pPr marL="237744" indent="-237744">
              <a:lnSpc>
                <a:spcPct val="100000"/>
              </a:lnSpc>
              <a:spcAft>
                <a:spcPts val="1300"/>
              </a:spcAft>
            </a:pPr>
            <a:r>
              <a:rPr sz="1600" b="1">
                <a:solidFill>
                  <a:srgbClr val="1F6187"/>
                </a:solidFill>
                <a:latin typeface="Segoe UI"/>
              </a:rPr>
              <a:t>▪  </a:t>
            </a:r>
            <a:r>
              <a:rPr b="0" sz="1600">
                <a:solidFill>
                  <a:srgbClr val="44555F"/>
                </a:solidFill>
                <a:latin typeface="Segoe UI"/>
              </a:rPr>
              <a:t>Groupe </a:t>
            </a:r>
            <a:r>
              <a:rPr b="1" sz="1600">
                <a:solidFill>
                  <a:srgbClr val="44555F"/>
                </a:solidFill>
                <a:latin typeface="Segoe UI"/>
              </a:rPr>
              <a:t>GMD</a:t>
            </a:r>
            <a:r>
              <a:rPr b="0" sz="1600">
                <a:solidFill>
                  <a:srgbClr val="44555F"/>
                </a:solidFill>
                <a:latin typeface="Segoe UI"/>
              </a:rPr>
              <a:t> — sous-traitance automobile : découpage, emboutissage et assemblage de tôlerie fine</a:t>
            </a:r>
          </a:p>
          <a:p>
            <a:pPr marL="237744" indent="-237744">
              <a:lnSpc>
                <a:spcPct val="100000"/>
              </a:lnSpc>
              <a:spcAft>
                <a:spcPts val="1300"/>
              </a:spcAft>
            </a:pPr>
            <a:r>
              <a:rPr sz="1600" b="1">
                <a:solidFill>
                  <a:srgbClr val="1F6187"/>
                </a:solidFill>
                <a:latin typeface="Segoe UI"/>
              </a:rPr>
              <a:t>▪  </a:t>
            </a:r>
            <a:r>
              <a:rPr b="0" sz="1600">
                <a:solidFill>
                  <a:srgbClr val="44555F"/>
                </a:solidFill>
                <a:latin typeface="Segoe UI"/>
              </a:rPr>
              <a:t>Site de </a:t>
            </a:r>
            <a:r>
              <a:rPr b="1" sz="1600">
                <a:solidFill>
                  <a:srgbClr val="44555F"/>
                </a:solidFill>
                <a:latin typeface="Segoe UI"/>
              </a:rPr>
              <a:t>Tanger Automotive City</a:t>
            </a:r>
            <a:r>
              <a:rPr b="0" sz="1600">
                <a:solidFill>
                  <a:srgbClr val="44555F"/>
                </a:solidFill>
                <a:latin typeface="Segoe UI"/>
              </a:rPr>
              <a:t>, plateforme industrielle Tanger Med</a:t>
            </a:r>
          </a:p>
          <a:p>
            <a:pPr marL="237744" indent="-237744">
              <a:lnSpc>
                <a:spcPct val="100000"/>
              </a:lnSpc>
              <a:spcAft>
                <a:spcPts val="1300"/>
              </a:spcAft>
            </a:pPr>
            <a:r>
              <a:rPr sz="1600" b="1">
                <a:solidFill>
                  <a:srgbClr val="1F6187"/>
                </a:solidFill>
                <a:latin typeface="Segoe UI"/>
              </a:rPr>
              <a:t>▪  </a:t>
            </a:r>
            <a:r>
              <a:rPr b="0" sz="1600">
                <a:solidFill>
                  <a:srgbClr val="44555F"/>
                </a:solidFill>
                <a:latin typeface="Segoe UI"/>
              </a:rPr>
              <a:t>Unité inaugurée en </a:t>
            </a:r>
            <a:r>
              <a:rPr b="1" sz="1600">
                <a:solidFill>
                  <a:srgbClr val="44555F"/>
                </a:solidFill>
                <a:latin typeface="Segoe UI"/>
              </a:rPr>
              <a:t>octobre 2022</a:t>
            </a:r>
            <a:r>
              <a:rPr b="0" sz="1600">
                <a:solidFill>
                  <a:srgbClr val="44555F"/>
                </a:solidFill>
                <a:latin typeface="Segoe UI"/>
              </a:rPr>
              <a:t> — environ 30 000 m² sur un terrain de 45 000 m²</a:t>
            </a:r>
          </a:p>
          <a:p>
            <a:pPr marL="237744" indent="-237744">
              <a:lnSpc>
                <a:spcPct val="100000"/>
              </a:lnSpc>
              <a:spcAft>
                <a:spcPts val="1300"/>
              </a:spcAft>
            </a:pPr>
            <a:r>
              <a:rPr sz="1600" b="1">
                <a:solidFill>
                  <a:srgbClr val="1F6187"/>
                </a:solidFill>
                <a:latin typeface="Segoe UI"/>
              </a:rPr>
              <a:t>▪  </a:t>
            </a:r>
            <a:r>
              <a:rPr b="0" sz="1600">
                <a:solidFill>
                  <a:srgbClr val="44555F"/>
                </a:solidFill>
                <a:latin typeface="Segoe UI"/>
              </a:rPr>
              <a:t>Composants métalliques fournis à des constructeurs, dont </a:t>
            </a:r>
            <a:r>
              <a:rPr b="1" sz="1600">
                <a:solidFill>
                  <a:srgbClr val="44555F"/>
                </a:solidFill>
                <a:latin typeface="Segoe UI"/>
              </a:rPr>
              <a:t>Renault</a:t>
            </a:r>
            <a:r>
              <a:rPr b="0" sz="1600">
                <a:solidFill>
                  <a:srgbClr val="44555F"/>
                </a:solidFill>
                <a:latin typeface="Segoe UI"/>
              </a:rPr>
              <a:t> et </a:t>
            </a:r>
            <a:r>
              <a:rPr b="1" sz="1600">
                <a:solidFill>
                  <a:srgbClr val="44555F"/>
                </a:solidFill>
                <a:latin typeface="Segoe UI"/>
              </a:rPr>
              <a:t>Stellantis</a:t>
            </a:r>
          </a:p>
        </p:txBody>
      </p:sp>
      <p:sp>
        <p:nvSpPr>
          <p:cNvPr id="8" name="Rectangle 7"/>
          <p:cNvSpPr/>
          <p:nvPr/>
        </p:nvSpPr>
        <p:spPr>
          <a:xfrm>
            <a:off x="658368" y="4160520"/>
            <a:ext cx="2057400" cy="10515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4334256"/>
            <a:ext cx="1737360" cy="731520"/>
          </a:xfrm>
          <a:prstGeom prst="rect">
            <a:avLst/>
          </a:prstGeom>
          <a:noFill/>
        </p:spPr>
        <p:txBody>
          <a:bodyPr wrap="square" lIns="0" rIns="0" tIns="0" bIns="0" anchor="t">
            <a:spAutoFit/>
          </a:bodyPr>
          <a:lstStyle/>
          <a:p>
            <a:r>
              <a:rPr sz="1900" b="1">
                <a:solidFill>
                  <a:srgbClr val="1F6187"/>
                </a:solidFill>
                <a:latin typeface="Segoe UI Semibold"/>
              </a:rPr>
              <a:t>30 000 m²</a:t>
            </a:r>
          </a:p>
          <a:p>
            <a:r>
              <a:rPr sz="1050">
                <a:solidFill>
                  <a:srgbClr val="6C7C86"/>
                </a:solidFill>
                <a:latin typeface="Segoe UI"/>
              </a:rPr>
              <a:t>surface industrielle</a:t>
            </a:r>
          </a:p>
        </p:txBody>
      </p:sp>
      <p:sp>
        <p:nvSpPr>
          <p:cNvPr id="10" name="Rectangle 9"/>
          <p:cNvSpPr/>
          <p:nvPr/>
        </p:nvSpPr>
        <p:spPr>
          <a:xfrm>
            <a:off x="2898648" y="4160520"/>
            <a:ext cx="2057400" cy="10515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81528" y="4334256"/>
            <a:ext cx="1737360" cy="731520"/>
          </a:xfrm>
          <a:prstGeom prst="rect">
            <a:avLst/>
          </a:prstGeom>
          <a:noFill/>
        </p:spPr>
        <p:txBody>
          <a:bodyPr wrap="square" lIns="0" rIns="0" tIns="0" bIns="0" anchor="t">
            <a:spAutoFit/>
          </a:bodyPr>
          <a:lstStyle/>
          <a:p>
            <a:r>
              <a:rPr sz="1900" b="1">
                <a:solidFill>
                  <a:srgbClr val="1F6187"/>
                </a:solidFill>
                <a:latin typeface="Segoe UI Semibold"/>
              </a:rPr>
              <a:t>2022</a:t>
            </a:r>
          </a:p>
          <a:p>
            <a:r>
              <a:rPr sz="1050">
                <a:solidFill>
                  <a:srgbClr val="6C7C86"/>
                </a:solidFill>
                <a:latin typeface="Segoe UI"/>
              </a:rPr>
              <a:t>inauguration du site</a:t>
            </a:r>
          </a:p>
        </p:txBody>
      </p:sp>
      <p:sp>
        <p:nvSpPr>
          <p:cNvPr id="12" name="Rectangle 11"/>
          <p:cNvSpPr/>
          <p:nvPr/>
        </p:nvSpPr>
        <p:spPr>
          <a:xfrm>
            <a:off x="5138928" y="4160520"/>
            <a:ext cx="2057400" cy="10515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1808" y="4334256"/>
            <a:ext cx="1737360" cy="731520"/>
          </a:xfrm>
          <a:prstGeom prst="rect">
            <a:avLst/>
          </a:prstGeom>
          <a:noFill/>
        </p:spPr>
        <p:txBody>
          <a:bodyPr wrap="square" lIns="0" rIns="0" tIns="0" bIns="0" anchor="t">
            <a:spAutoFit/>
          </a:bodyPr>
          <a:lstStyle/>
          <a:p>
            <a:r>
              <a:rPr sz="1900" b="1">
                <a:solidFill>
                  <a:srgbClr val="1F6187"/>
                </a:solidFill>
                <a:latin typeface="Segoe UI Semibold"/>
              </a:rPr>
              <a:t>Tanger Med</a:t>
            </a:r>
          </a:p>
          <a:p>
            <a:r>
              <a:rPr sz="1050">
                <a:solidFill>
                  <a:srgbClr val="6C7C86"/>
                </a:solidFill>
                <a:latin typeface="Segoe UI"/>
              </a:rPr>
              <a:t>plateforme industrielle</a:t>
            </a:r>
          </a:p>
        </p:txBody>
      </p:sp>
      <p:sp>
        <p:nvSpPr>
          <p:cNvPr id="14" name="Rectangle 13"/>
          <p:cNvSpPr/>
          <p:nvPr/>
        </p:nvSpPr>
        <p:spPr>
          <a:xfrm>
            <a:off x="7680960" y="1481328"/>
            <a:ext cx="3840480" cy="2377440"/>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18704" y="1664208"/>
            <a:ext cx="3364992" cy="2048256"/>
          </a:xfrm>
          <a:prstGeom prst="rect">
            <a:avLst/>
          </a:prstGeom>
          <a:noFill/>
        </p:spPr>
        <p:txBody>
          <a:bodyPr wrap="square" lIns="0" rIns="0" tIns="0" bIns="0" anchor="t">
            <a:spAutoFit/>
          </a:bodyPr>
          <a:lstStyle/>
          <a:p>
            <a:pPr>
              <a:spcAft>
                <a:spcPts val="900"/>
              </a:spcAft>
            </a:pPr>
            <a:r>
              <a:rPr sz="1050" b="1">
                <a:solidFill>
                  <a:srgbClr val="1F6187"/>
                </a:solidFill>
                <a:latin typeface="Segoe UI"/>
              </a:rPr>
              <a:t>POURQUOI LE STOCKAGE EST UN ENJEU</a:t>
            </a:r>
          </a:p>
          <a:p>
            <a:pPr marL="237744" indent="-237744">
              <a:lnSpc>
                <a:spcPct val="102000"/>
              </a:lnSpc>
              <a:spcAft>
                <a:spcPts val="700"/>
              </a:spcAft>
            </a:pPr>
            <a:r>
              <a:rPr sz="1400" b="1">
                <a:solidFill>
                  <a:srgbClr val="1F6187"/>
                </a:solidFill>
                <a:latin typeface="Segoe UI"/>
              </a:rPr>
              <a:t>▪  </a:t>
            </a:r>
            <a:r>
              <a:rPr b="0" sz="1400">
                <a:solidFill>
                  <a:srgbClr val="44555F"/>
                </a:solidFill>
                <a:latin typeface="Segoe UI"/>
              </a:rPr>
              <a:t>Un très grand nombre de références</a:t>
            </a:r>
          </a:p>
          <a:p>
            <a:pPr marL="237744" indent="-237744">
              <a:lnSpc>
                <a:spcPct val="102000"/>
              </a:lnSpc>
              <a:spcAft>
                <a:spcPts val="700"/>
              </a:spcAft>
            </a:pPr>
            <a:r>
              <a:rPr sz="1400" b="1">
                <a:solidFill>
                  <a:srgbClr val="1F6187"/>
                </a:solidFill>
                <a:latin typeface="Segoe UI"/>
              </a:rPr>
              <a:t>▪  </a:t>
            </a:r>
            <a:r>
              <a:rPr b="0" sz="1400">
                <a:solidFill>
                  <a:srgbClr val="44555F"/>
                </a:solidFill>
                <a:latin typeface="Segoe UI"/>
              </a:rPr>
              <a:t>Des flux d'entrée et de sortie permanents</a:t>
            </a:r>
          </a:p>
          <a:p>
            <a:pPr marL="237744" indent="-237744">
              <a:lnSpc>
                <a:spcPct val="102000"/>
              </a:lnSpc>
              <a:spcAft>
                <a:spcPts val="700"/>
              </a:spcAft>
            </a:pPr>
            <a:r>
              <a:rPr sz="1400" b="1">
                <a:solidFill>
                  <a:srgbClr val="1F6187"/>
                </a:solidFill>
                <a:latin typeface="Segoe UI"/>
              </a:rPr>
              <a:t>▪  </a:t>
            </a:r>
            <a:r>
              <a:rPr b="0" sz="1400">
                <a:solidFill>
                  <a:srgbClr val="44555F"/>
                </a:solidFill>
                <a:latin typeface="Segoe UI"/>
              </a:rPr>
              <a:t>Une pièce indisponible au bon endroit arrête la production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01 — CONTEXTE ET PROBLÉMATIQUE</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Le département informatique et ma mission</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4</a:t>
            </a:r>
          </a:p>
        </p:txBody>
      </p:sp>
      <p:sp>
        <p:nvSpPr>
          <p:cNvPr id="7" name="Rectangle 6"/>
          <p:cNvSpPr/>
          <p:nvPr/>
        </p:nvSpPr>
        <p:spPr>
          <a:xfrm>
            <a:off x="658368" y="1481328"/>
            <a:ext cx="5394960" cy="205740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664208"/>
            <a:ext cx="4919472" cy="1728216"/>
          </a:xfrm>
          <a:prstGeom prst="rect">
            <a:avLst/>
          </a:prstGeom>
          <a:noFill/>
        </p:spPr>
        <p:txBody>
          <a:bodyPr wrap="square" lIns="0" rIns="0" tIns="0" bIns="0" anchor="t">
            <a:spAutoFit/>
          </a:bodyPr>
          <a:lstStyle/>
          <a:p>
            <a:pPr>
              <a:spcAft>
                <a:spcPts val="900"/>
              </a:spcAft>
            </a:pPr>
            <a:r>
              <a:rPr sz="1050" b="1">
                <a:solidFill>
                  <a:srgbClr val="6C7C86"/>
                </a:solidFill>
                <a:latin typeface="Segoe UI"/>
              </a:rPr>
              <a:t>FOURNI AU DÉPART</a:t>
            </a:r>
          </a:p>
          <a:p>
            <a:pPr marL="237744" indent="-237744">
              <a:lnSpc>
                <a:spcPct val="102000"/>
              </a:lnSpc>
              <a:spcAft>
                <a:spcPts val="700"/>
              </a:spcAft>
            </a:pPr>
            <a:r>
              <a:rPr sz="1450" b="1">
                <a:solidFill>
                  <a:srgbClr val="1F6187"/>
                </a:solidFill>
                <a:latin typeface="Segoe UI"/>
              </a:rPr>
              <a:t>▪  </a:t>
            </a:r>
            <a:r>
              <a:rPr b="0" sz="1450">
                <a:solidFill>
                  <a:srgbClr val="44555F"/>
                </a:solidFill>
                <a:latin typeface="Segoe UI"/>
              </a:rPr>
              <a:t>Un prototype frontend et backend</a:t>
            </a:r>
          </a:p>
          <a:p>
            <a:pPr marL="237744" indent="-237744">
              <a:lnSpc>
                <a:spcPct val="102000"/>
              </a:lnSpc>
              <a:spcAft>
                <a:spcPts val="700"/>
              </a:spcAft>
            </a:pPr>
            <a:r>
              <a:rPr sz="1450" b="1">
                <a:solidFill>
                  <a:srgbClr val="1F6187"/>
                </a:solidFill>
                <a:latin typeface="Segoe UI"/>
              </a:rPr>
              <a:t>▪  </a:t>
            </a:r>
            <a:r>
              <a:rPr b="0" sz="1450">
                <a:solidFill>
                  <a:srgbClr val="44555F"/>
                </a:solidFill>
                <a:latin typeface="Segoe UI"/>
              </a:rPr>
              <a:t>Une base de styles CSS, à conserver</a:t>
            </a:r>
          </a:p>
          <a:p>
            <a:pPr marL="237744" indent="-237744">
              <a:lnSpc>
                <a:spcPct val="102000"/>
              </a:lnSpc>
              <a:spcAft>
                <a:spcPts val="700"/>
              </a:spcAft>
            </a:pPr>
            <a:r>
              <a:rPr sz="1450" b="1">
                <a:solidFill>
                  <a:srgbClr val="1F6187"/>
                </a:solidFill>
                <a:latin typeface="Segoe UI"/>
              </a:rPr>
              <a:t>▪  </a:t>
            </a:r>
            <a:r>
              <a:rPr b="0" sz="1450">
                <a:solidFill>
                  <a:srgbClr val="44555F"/>
                </a:solidFill>
                <a:latin typeface="Segoe UI"/>
              </a:rPr>
              <a:t>Une pile technique imposée : React, ASP.NET Core, SQL Server, EF Core</a:t>
            </a:r>
          </a:p>
        </p:txBody>
      </p:sp>
      <p:sp>
        <p:nvSpPr>
          <p:cNvPr id="9" name="Rectangle 8"/>
          <p:cNvSpPr/>
          <p:nvPr/>
        </p:nvSpPr>
        <p:spPr>
          <a:xfrm>
            <a:off x="658368" y="3767328"/>
            <a:ext cx="5394960" cy="2057400"/>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950208"/>
            <a:ext cx="4919472" cy="1728216"/>
          </a:xfrm>
          <a:prstGeom prst="rect">
            <a:avLst/>
          </a:prstGeom>
          <a:noFill/>
        </p:spPr>
        <p:txBody>
          <a:bodyPr wrap="square" lIns="0" rIns="0" tIns="0" bIns="0" anchor="t">
            <a:spAutoFit/>
          </a:bodyPr>
          <a:lstStyle/>
          <a:p>
            <a:pPr>
              <a:spcAft>
                <a:spcPts val="900"/>
              </a:spcAft>
            </a:pPr>
            <a:r>
              <a:rPr sz="1050" b="1">
                <a:solidFill>
                  <a:srgbClr val="1F6187"/>
                </a:solidFill>
                <a:latin typeface="Segoe UI"/>
              </a:rPr>
              <a:t>MA MISSION</a:t>
            </a:r>
          </a:p>
          <a:p>
            <a:pPr marL="237744" indent="-237744">
              <a:lnSpc>
                <a:spcPct val="102000"/>
              </a:lnSpc>
              <a:spcAft>
                <a:spcPts val="700"/>
              </a:spcAft>
            </a:pPr>
            <a:r>
              <a:rPr sz="1450" b="1">
                <a:solidFill>
                  <a:srgbClr val="1F6187"/>
                </a:solidFill>
                <a:latin typeface="Segoe UI"/>
              </a:rPr>
              <a:t>▪  </a:t>
            </a:r>
            <a:r>
              <a:rPr b="0" sz="1450">
                <a:solidFill>
                  <a:srgbClr val="44555F"/>
                </a:solidFill>
                <a:latin typeface="Segoe UI"/>
              </a:rPr>
              <a:t>Développer l'application de gestion des stocks à partir de cette base</a:t>
            </a:r>
          </a:p>
          <a:p>
            <a:pPr marL="237744" indent="-237744">
              <a:lnSpc>
                <a:spcPct val="102000"/>
              </a:lnSpc>
              <a:spcAft>
                <a:spcPts val="700"/>
              </a:spcAft>
            </a:pPr>
            <a:r>
              <a:rPr sz="1450" b="1">
                <a:solidFill>
                  <a:srgbClr val="1F6187"/>
                </a:solidFill>
                <a:latin typeface="Segoe UI"/>
              </a:rPr>
              <a:t>▪  </a:t>
            </a:r>
            <a:r>
              <a:rPr b="0" sz="1450">
                <a:solidFill>
                  <a:srgbClr val="44555F"/>
                </a:solidFill>
                <a:latin typeface="Segoe UI"/>
              </a:rPr>
              <a:t>Concevoir le modèle de données et les règles métier</a:t>
            </a:r>
          </a:p>
          <a:p>
            <a:pPr marL="237744" indent="-237744">
              <a:lnSpc>
                <a:spcPct val="102000"/>
              </a:lnSpc>
              <a:spcAft>
                <a:spcPts val="700"/>
              </a:spcAft>
            </a:pPr>
            <a:r>
              <a:rPr sz="1450" b="1">
                <a:solidFill>
                  <a:srgbClr val="1F6187"/>
                </a:solidFill>
                <a:latin typeface="Segoe UI"/>
              </a:rPr>
              <a:t>▪  </a:t>
            </a:r>
            <a:r>
              <a:rPr b="0" sz="1450">
                <a:solidFill>
                  <a:srgbClr val="44555F"/>
                </a:solidFill>
                <a:latin typeface="Segoe UI"/>
              </a:rPr>
              <a:t>Intégrer la visualisation et la prévision</a:t>
            </a:r>
          </a:p>
        </p:txBody>
      </p:sp>
      <p:pic>
        <p:nvPicPr>
          <p:cNvPr id="11" name="Picture 10" descr="equipe.png"/>
          <p:cNvPicPr>
            <a:picLocks noChangeAspect="1"/>
          </p:cNvPicPr>
          <p:nvPr/>
        </p:nvPicPr>
        <p:blipFill>
          <a:blip r:embed="rId2"/>
          <a:stretch>
            <a:fillRect/>
          </a:stretch>
        </p:blipFill>
        <p:spPr>
          <a:xfrm>
            <a:off x="7400925" y="1481328"/>
            <a:ext cx="3257550" cy="4343400"/>
          </a:xfrm>
          <a:prstGeom prst="rect">
            <a:avLst/>
          </a:prstGeom>
          <a:ln w="9525">
            <a:solidFill>
              <a:srgbClr val="D2DBDF"/>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01 — CONTEXTE ET PROBLÉMATIQUE</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Problématique</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5</a:t>
            </a:r>
          </a:p>
        </p:txBody>
      </p:sp>
      <p:sp>
        <p:nvSpPr>
          <p:cNvPr id="7" name="Rectangle 6"/>
          <p:cNvSpPr/>
          <p:nvPr/>
        </p:nvSpPr>
        <p:spPr>
          <a:xfrm>
            <a:off x="658368" y="1600200"/>
            <a:ext cx="10874959" cy="137160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1810512"/>
            <a:ext cx="10051999" cy="1005840"/>
          </a:xfrm>
          <a:prstGeom prst="rect">
            <a:avLst/>
          </a:prstGeom>
          <a:noFill/>
        </p:spPr>
        <p:txBody>
          <a:bodyPr wrap="square" lIns="0" rIns="0" tIns="0" bIns="0" anchor="t">
            <a:spAutoFit/>
          </a:bodyPr>
          <a:lstStyle/>
          <a:p>
            <a:r>
              <a:rPr sz="2300" b="1">
                <a:solidFill>
                  <a:srgbClr val="FFFFFF"/>
                </a:solidFill>
                <a:latin typeface="Segoe UI Semibold"/>
              </a:rPr>
              <a:t>Comment obtenir une vision fiable et localisée des stocks, tout en contrôlant la qualité des données qui entrent en base ?</a:t>
            </a:r>
          </a:p>
        </p:txBody>
      </p:sp>
      <p:sp>
        <p:nvSpPr>
          <p:cNvPr id="9" name="Rectangle 8"/>
          <p:cNvSpPr/>
          <p:nvPr/>
        </p:nvSpPr>
        <p:spPr>
          <a:xfrm>
            <a:off x="658368" y="3429000"/>
            <a:ext cx="3474720" cy="192024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429000"/>
            <a:ext cx="347472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03320"/>
            <a:ext cx="2962656" cy="1463040"/>
          </a:xfrm>
          <a:prstGeom prst="rect">
            <a:avLst/>
          </a:prstGeom>
          <a:noFill/>
        </p:spPr>
        <p:txBody>
          <a:bodyPr wrap="square" lIns="0" rIns="0" tIns="0" bIns="0" anchor="t">
            <a:spAutoFit/>
          </a:bodyPr>
          <a:lstStyle/>
          <a:p>
            <a:pPr>
              <a:spcAft>
                <a:spcPts val="800"/>
              </a:spcAft>
            </a:pPr>
            <a:r>
              <a:rPr sz="1600" b="1">
                <a:solidFill>
                  <a:srgbClr val="1F6187"/>
                </a:solidFill>
                <a:latin typeface="Segoe UI Semibold"/>
              </a:rPr>
              <a:t>Localiser</a:t>
            </a:r>
          </a:p>
          <a:p>
            <a:pPr>
              <a:lnSpc>
                <a:spcPct val="108000"/>
              </a:lnSpc>
              <a:spcAft>
                <a:spcPts val="0"/>
              </a:spcAft>
            </a:pPr>
            <a:r>
              <a:rPr b="0" sz="1350">
                <a:solidFill>
                  <a:srgbClr val="44555F"/>
                </a:solidFill>
                <a:latin typeface="Segoe UI"/>
              </a:rPr>
              <a:t>Une quantité globale ne dit ni où se trouve l'article, ni si l'emplacement est saturé.</a:t>
            </a:r>
          </a:p>
        </p:txBody>
      </p:sp>
      <p:sp>
        <p:nvSpPr>
          <p:cNvPr id="12" name="Rectangle 11"/>
          <p:cNvSpPr/>
          <p:nvPr/>
        </p:nvSpPr>
        <p:spPr>
          <a:xfrm>
            <a:off x="4389120" y="3429000"/>
            <a:ext cx="3474720" cy="192024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429000"/>
            <a:ext cx="347472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3703320"/>
            <a:ext cx="2962656" cy="1463040"/>
          </a:xfrm>
          <a:prstGeom prst="rect">
            <a:avLst/>
          </a:prstGeom>
          <a:noFill/>
        </p:spPr>
        <p:txBody>
          <a:bodyPr wrap="square" lIns="0" rIns="0" tIns="0" bIns="0" anchor="t">
            <a:spAutoFit/>
          </a:bodyPr>
          <a:lstStyle/>
          <a:p>
            <a:pPr>
              <a:spcAft>
                <a:spcPts val="800"/>
              </a:spcAft>
            </a:pPr>
            <a:r>
              <a:rPr sz="1600" b="1">
                <a:solidFill>
                  <a:srgbClr val="1F6187"/>
                </a:solidFill>
                <a:latin typeface="Segoe UI Semibold"/>
              </a:rPr>
              <a:t>Fiabiliser</a:t>
            </a:r>
          </a:p>
          <a:p>
            <a:pPr>
              <a:lnSpc>
                <a:spcPct val="108000"/>
              </a:lnSpc>
              <a:spcAft>
                <a:spcPts val="0"/>
              </a:spcAft>
            </a:pPr>
            <a:r>
              <a:rPr b="0" sz="1350">
                <a:solidFill>
                  <a:srgbClr val="44555F"/>
                </a:solidFill>
                <a:latin typeface="Segoe UI"/>
              </a:rPr>
              <a:t>Les historiques arrivent en fichiers Excel hétérogènes : encodages, séparateurs et formats de date variables.</a:t>
            </a:r>
          </a:p>
        </p:txBody>
      </p:sp>
      <p:sp>
        <p:nvSpPr>
          <p:cNvPr id="15" name="Rectangle 14"/>
          <p:cNvSpPr/>
          <p:nvPr/>
        </p:nvSpPr>
        <p:spPr>
          <a:xfrm>
            <a:off x="8119872" y="3429000"/>
            <a:ext cx="3474720" cy="192024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9872" y="3429000"/>
            <a:ext cx="347472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3703320"/>
            <a:ext cx="2962656" cy="1463040"/>
          </a:xfrm>
          <a:prstGeom prst="rect">
            <a:avLst/>
          </a:prstGeom>
          <a:noFill/>
        </p:spPr>
        <p:txBody>
          <a:bodyPr wrap="square" lIns="0" rIns="0" tIns="0" bIns="0" anchor="t">
            <a:spAutoFit/>
          </a:bodyPr>
          <a:lstStyle/>
          <a:p>
            <a:pPr>
              <a:spcAft>
                <a:spcPts val="800"/>
              </a:spcAft>
            </a:pPr>
            <a:r>
              <a:rPr sz="1600" b="1">
                <a:solidFill>
                  <a:srgbClr val="1F6187"/>
                </a:solidFill>
                <a:latin typeface="Segoe UI Semibold"/>
              </a:rPr>
              <a:t>Séparer les droits</a:t>
            </a:r>
          </a:p>
          <a:p>
            <a:pPr>
              <a:lnSpc>
                <a:spcPct val="108000"/>
              </a:lnSpc>
              <a:spcAft>
                <a:spcPts val="0"/>
              </a:spcAft>
            </a:pPr>
            <a:r>
              <a:rPr b="0" sz="1350">
                <a:solidFill>
                  <a:srgbClr val="44555F"/>
                </a:solidFill>
                <a:latin typeface="Segoe UI"/>
              </a:rPr>
              <a:t>Consulter et modifier ne doivent pas être le même droit.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01 — CONTEXTE ET PROBLÉMATIQUE</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Objectifs et cahier des charges</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6</a:t>
            </a:r>
          </a:p>
        </p:txBody>
      </p:sp>
      <p:sp>
        <p:nvSpPr>
          <p:cNvPr id="7" name="Rectangle 6"/>
          <p:cNvSpPr/>
          <p:nvPr/>
        </p:nvSpPr>
        <p:spPr>
          <a:xfrm>
            <a:off x="658368" y="1481328"/>
            <a:ext cx="5532120" cy="40233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664208"/>
            <a:ext cx="5056632" cy="3694176"/>
          </a:xfrm>
          <a:prstGeom prst="rect">
            <a:avLst/>
          </a:prstGeom>
          <a:noFill/>
        </p:spPr>
        <p:txBody>
          <a:bodyPr wrap="square" lIns="0" rIns="0" tIns="0" bIns="0" anchor="t">
            <a:spAutoFit/>
          </a:bodyPr>
          <a:lstStyle/>
          <a:p>
            <a:pPr>
              <a:spcAft>
                <a:spcPts val="900"/>
              </a:spcAft>
            </a:pPr>
            <a:r>
              <a:rPr sz="1050" b="1">
                <a:solidFill>
                  <a:srgbClr val="1F6187"/>
                </a:solidFill>
                <a:latin typeface="Segoe UI"/>
              </a:rPr>
              <a:t>BESOINS FONCTIONNELS</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Représenter la hiérarchie physique Magasin › Rayon › Zone › Case</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Gérer les articles, leurs seuils et leurs emplacements</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Enregistrer et importer les mouvements mensuels</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Calculer stock net, occupation et dépassements</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Visualiser et projeter l'évolution des stocks</a:t>
            </a:r>
          </a:p>
        </p:txBody>
      </p:sp>
      <p:sp>
        <p:nvSpPr>
          <p:cNvPr id="9" name="Rectangle 8"/>
          <p:cNvSpPr/>
          <p:nvPr/>
        </p:nvSpPr>
        <p:spPr>
          <a:xfrm>
            <a:off x="6601968" y="1481328"/>
            <a:ext cx="5532120" cy="4023360"/>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1664208"/>
            <a:ext cx="5056632" cy="3694176"/>
          </a:xfrm>
          <a:prstGeom prst="rect">
            <a:avLst/>
          </a:prstGeom>
          <a:noFill/>
        </p:spPr>
        <p:txBody>
          <a:bodyPr wrap="square" lIns="0" rIns="0" tIns="0" bIns="0" anchor="t">
            <a:spAutoFit/>
          </a:bodyPr>
          <a:lstStyle/>
          <a:p>
            <a:pPr>
              <a:spcAft>
                <a:spcPts val="900"/>
              </a:spcAft>
            </a:pPr>
            <a:r>
              <a:rPr sz="1050" b="1">
                <a:solidFill>
                  <a:srgbClr val="1F6187"/>
                </a:solidFill>
                <a:latin typeface="Segoe UI"/>
              </a:rPr>
              <a:t>CONTRAINTES ET EXIGENCES</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Accès authentifié, droits de lecture et d'écriture séparés</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Intégrité : unicité, transactions, stock jamais négatif</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Messages d'erreur exploitables par l'utilisateur</a:t>
            </a:r>
          </a:p>
          <a:p>
            <a:pPr marL="237744" indent="-237744">
              <a:lnSpc>
                <a:spcPct val="102000"/>
              </a:lnSpc>
              <a:spcAft>
                <a:spcPts val="700"/>
              </a:spcAft>
            </a:pPr>
            <a:r>
              <a:rPr sz="1500" b="1">
                <a:solidFill>
                  <a:srgbClr val="1F6187"/>
                </a:solidFill>
                <a:latin typeface="Segoe UI"/>
              </a:rPr>
              <a:t>▪  </a:t>
            </a:r>
            <a:r>
              <a:rPr b="0" sz="1500">
                <a:solidFill>
                  <a:srgbClr val="44555F"/>
                </a:solidFill>
                <a:latin typeface="Segoe UI"/>
              </a:rPr>
              <a:t>Réutiliser le prototype et la charte CSS fournis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02 — ANALYSE ET CONCEPTION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Méthodologie et planification</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7</a:t>
            </a:r>
          </a:p>
        </p:txBody>
      </p:sp>
      <p:sp>
        <p:nvSpPr>
          <p:cNvPr id="7" name="TextBox 6"/>
          <p:cNvSpPr txBox="1"/>
          <p:nvPr/>
        </p:nvSpPr>
        <p:spPr>
          <a:xfrm>
            <a:off x="658368" y="1389888"/>
            <a:ext cx="10874959" cy="685800"/>
          </a:xfrm>
          <a:prstGeom prst="rect">
            <a:avLst/>
          </a:prstGeom>
          <a:noFill/>
        </p:spPr>
        <p:txBody>
          <a:bodyPr wrap="square" lIns="0" rIns="0" tIns="0" bIns="0" anchor="t">
            <a:spAutoFit/>
          </a:bodyPr>
          <a:lstStyle/>
          <a:p>
            <a:pPr>
              <a:lnSpc>
                <a:spcPct val="110000"/>
              </a:lnSpc>
              <a:spcAft>
                <a:spcPts val="0"/>
              </a:spcAft>
            </a:pPr>
            <a:r>
              <a:rPr b="0" sz="1350">
                <a:solidFill>
                  <a:srgbClr val="44555F"/>
                </a:solidFill>
                <a:latin typeface="Segoe UI"/>
              </a:rPr>
              <a:t>Démarche </a:t>
            </a:r>
            <a:r>
              <a:rPr b="1" sz="1350">
                <a:solidFill>
                  <a:srgbClr val="44555F"/>
                </a:solidFill>
                <a:latin typeface="Segoe UI"/>
              </a:rPr>
              <a:t>itérative</a:t>
            </a:r>
            <a:r>
              <a:rPr b="0" sz="1350">
                <a:solidFill>
                  <a:srgbClr val="44555F"/>
                </a:solidFill>
                <a:latin typeface="Segoe UI"/>
              </a:rPr>
              <a:t> : une fonctionnalité conçue, développée, testée et corrigée avant de passer à la suivante  ·  </a:t>
            </a:r>
            <a:r>
              <a:rPr b="1" sz="1350">
                <a:solidFill>
                  <a:srgbClr val="44555F"/>
                </a:solidFill>
                <a:latin typeface="Segoe UI"/>
              </a:rPr>
              <a:t>11 phases</a:t>
            </a:r>
            <a:r>
              <a:rPr b="0" sz="1350">
                <a:solidFill>
                  <a:srgbClr val="44555F"/>
                </a:solidFill>
                <a:latin typeface="Segoe UI"/>
              </a:rPr>
              <a:t> du 01/07 au 31/07/2026  ·  Outils : Visual Studio, VS Code, SQL Server Management Studio, Swagger, Git</a:t>
            </a:r>
          </a:p>
        </p:txBody>
      </p:sp>
      <p:pic>
        <p:nvPicPr>
          <p:cNvPr id="8" name="Picture 7" descr="gantt.png"/>
          <p:cNvPicPr>
            <a:picLocks noChangeAspect="1"/>
          </p:cNvPicPr>
          <p:nvPr/>
        </p:nvPicPr>
        <p:blipFill>
          <a:blip r:embed="rId2"/>
          <a:stretch>
            <a:fillRect/>
          </a:stretch>
        </p:blipFill>
        <p:spPr>
          <a:xfrm>
            <a:off x="2340323" y="2121408"/>
            <a:ext cx="7511048" cy="4023360"/>
          </a:xfrm>
          <a:prstGeom prst="rect">
            <a:avLst/>
          </a:prstGeom>
          <a:ln w="9525">
            <a:solidFill>
              <a:srgbClr val="D2DBDF"/>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03 — TECHNOLOGIES ET ARCHITECTURE</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Architecture générale du système</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8</a:t>
            </a:r>
          </a:p>
        </p:txBody>
      </p:sp>
      <p:pic>
        <p:nvPicPr>
          <p:cNvPr id="7" name="Picture 6" descr="architecture.png"/>
          <p:cNvPicPr>
            <a:picLocks noChangeAspect="1"/>
          </p:cNvPicPr>
          <p:nvPr/>
        </p:nvPicPr>
        <p:blipFill>
          <a:blip r:embed="rId2"/>
          <a:stretch>
            <a:fillRect/>
          </a:stretch>
        </p:blipFill>
        <p:spPr>
          <a:xfrm>
            <a:off x="1441116" y="1371600"/>
            <a:ext cx="9309462" cy="3200400"/>
          </a:xfrm>
          <a:prstGeom prst="rect">
            <a:avLst/>
          </a:prstGeom>
          <a:ln w="9525">
            <a:solidFill>
              <a:srgbClr val="D2DBDF"/>
            </a:solidFill>
          </a:ln>
        </p:spPr>
      </p:pic>
      <p:sp>
        <p:nvSpPr>
          <p:cNvPr id="8" name="TextBox 7"/>
          <p:cNvSpPr txBox="1"/>
          <p:nvPr/>
        </p:nvSpPr>
        <p:spPr>
          <a:xfrm>
            <a:off x="658368" y="4800600"/>
            <a:ext cx="10874959" cy="1371600"/>
          </a:xfrm>
          <a:prstGeom prst="rect">
            <a:avLst/>
          </a:prstGeom>
          <a:noFill/>
        </p:spPr>
        <p:txBody>
          <a:bodyPr wrap="square" lIns="0" rIns="0" tIns="0" bIns="0" anchor="t">
            <a:spAutoFit/>
          </a:bodyPr>
          <a:lstStyle/>
          <a:p>
            <a:pPr marL="237744" indent="-237744">
              <a:lnSpc>
                <a:spcPct val="108000"/>
              </a:lnSpc>
              <a:spcAft>
                <a:spcPts val="800"/>
              </a:spcAft>
            </a:pPr>
            <a:r>
              <a:rPr sz="1400" b="1">
                <a:solidFill>
                  <a:srgbClr val="1F6187"/>
                </a:solidFill>
                <a:latin typeface="Segoe UI"/>
              </a:rPr>
              <a:t>▪  </a:t>
            </a:r>
            <a:r>
              <a:rPr b="1" sz="1400">
                <a:solidFill>
                  <a:srgbClr val="44555F"/>
                </a:solidFill>
                <a:latin typeface="Segoe UI"/>
              </a:rPr>
              <a:t>React</a:t>
            </a:r>
            <a:r>
              <a:rPr b="0" sz="1400">
                <a:solidFill>
                  <a:srgbClr val="44555F"/>
                </a:solidFill>
                <a:latin typeface="Segoe UI"/>
              </a:rPr>
              <a:t> — interface, dans le navigateur  ·  </a:t>
            </a:r>
            <a:r>
              <a:rPr b="1" sz="1400">
                <a:solidFill>
                  <a:srgbClr val="44555F"/>
                </a:solidFill>
                <a:latin typeface="Segoe UI"/>
              </a:rPr>
              <a:t>API ASP.NET Core</a:t>
            </a:r>
            <a:r>
              <a:rPr b="0" sz="1400">
                <a:solidFill>
                  <a:srgbClr val="44555F"/>
                </a:solidFill>
                <a:latin typeface="Segoe UI"/>
              </a:rPr>
              <a:t> — règles métier, 42 opérations HTTP, réponses JSON  ·  </a:t>
            </a:r>
            <a:r>
              <a:rPr b="1" sz="1400">
                <a:solidFill>
                  <a:srgbClr val="44555F"/>
                </a:solidFill>
                <a:latin typeface="Segoe UI"/>
              </a:rPr>
              <a:t>SQL Server</a:t>
            </a:r>
            <a:r>
              <a:rPr b="0" sz="1400">
                <a:solidFill>
                  <a:srgbClr val="44555F"/>
                </a:solidFill>
                <a:latin typeface="Segoe UI"/>
              </a:rPr>
              <a:t> — accessible uniquement par l'API, via EF Core</a:t>
            </a:r>
          </a:p>
          <a:p>
            <a:pPr marL="237744" indent="-237744">
              <a:lnSpc>
                <a:spcPct val="108000"/>
              </a:lnSpc>
              <a:spcAft>
                <a:spcPts val="0"/>
              </a:spcAft>
            </a:pPr>
            <a:r>
              <a:rPr sz="1400" b="1">
                <a:solidFill>
                  <a:srgbClr val="1F6187"/>
                </a:solidFill>
                <a:latin typeface="Segoe UI"/>
              </a:rPr>
              <a:t>▪  </a:t>
            </a:r>
            <a:r>
              <a:rPr b="1" sz="1400">
                <a:solidFill>
                  <a:srgbClr val="44555F"/>
                </a:solidFill>
                <a:latin typeface="Segoe UI"/>
              </a:rPr>
              <a:t>Python</a:t>
            </a:r>
            <a:r>
              <a:rPr b="0" sz="1400">
                <a:solidFill>
                  <a:srgbClr val="44555F"/>
                </a:solidFill>
                <a:latin typeface="Segoe UI"/>
              </a:rPr>
              <a:t> — processus séparé, appelé par l'API pour la prévision  ·  </a:t>
            </a:r>
            <a:r>
              <a:rPr b="1" sz="1400">
                <a:solidFill>
                  <a:srgbClr val="44555F"/>
                </a:solidFill>
                <a:latin typeface="Segoe UI"/>
              </a:rPr>
              <a:t>OpenStreetMap</a:t>
            </a:r>
            <a:r>
              <a:rPr b="0" sz="1400">
                <a:solidFill>
                  <a:srgbClr val="44555F"/>
                </a:solidFill>
                <a:latin typeface="Segoe UI"/>
              </a:rPr>
              <a:t> — appel sortant pour géolocaliser un magasin depuis sa ville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03 — TECHNOLOGIES ET ARCHITECTURE</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Organisation du code</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9</a:t>
            </a:r>
          </a:p>
        </p:txBody>
      </p:sp>
      <p:sp>
        <p:nvSpPr>
          <p:cNvPr id="7" name="Rectangle 6"/>
          <p:cNvSpPr/>
          <p:nvPr/>
        </p:nvSpPr>
        <p:spPr>
          <a:xfrm>
            <a:off x="658368" y="1463040"/>
            <a:ext cx="6858000" cy="749808"/>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463040"/>
            <a:ext cx="50800" cy="749808"/>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72768"/>
            <a:ext cx="6400800" cy="548640"/>
          </a:xfrm>
          <a:prstGeom prst="rect">
            <a:avLst/>
          </a:prstGeom>
          <a:noFill/>
        </p:spPr>
        <p:txBody>
          <a:bodyPr wrap="square" lIns="0" rIns="0" tIns="0" bIns="0" anchor="t">
            <a:spAutoFit/>
          </a:bodyPr>
          <a:lstStyle/>
          <a:p>
            <a:r>
              <a:rPr sz="1500" b="1">
                <a:solidFill>
                  <a:srgbClr val="12181D"/>
                </a:solidFill>
                <a:latin typeface="Segoe UI Semibold"/>
              </a:rPr>
              <a:t>Contrôleur</a:t>
            </a:r>
          </a:p>
          <a:p>
            <a:r>
              <a:rPr sz="1150">
                <a:solidFill>
                  <a:srgbClr val="44555F"/>
                </a:solidFill>
                <a:latin typeface="Segoe UI"/>
              </a:rPr>
              <a:t>Reçoit la requête, valide, traduit les erreurs en codes HTTP</a:t>
            </a:r>
          </a:p>
        </p:txBody>
      </p:sp>
      <p:sp>
        <p:nvSpPr>
          <p:cNvPr id="10" name="Down Arrow 9"/>
          <p:cNvSpPr/>
          <p:nvPr/>
        </p:nvSpPr>
        <p:spPr>
          <a:xfrm>
            <a:off x="3950208" y="2231136"/>
            <a:ext cx="274320" cy="128016"/>
          </a:xfrm>
          <a:prstGeom prst="downArrow">
            <a:avLst/>
          </a:prstGeom>
          <a:solidFill>
            <a:srgbClr val="6C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377440"/>
            <a:ext cx="6858000" cy="749808"/>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377440"/>
            <a:ext cx="50800" cy="749808"/>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487168"/>
            <a:ext cx="6400800" cy="548640"/>
          </a:xfrm>
          <a:prstGeom prst="rect">
            <a:avLst/>
          </a:prstGeom>
          <a:noFill/>
        </p:spPr>
        <p:txBody>
          <a:bodyPr wrap="square" lIns="0" rIns="0" tIns="0" bIns="0" anchor="t">
            <a:spAutoFit/>
          </a:bodyPr>
          <a:lstStyle/>
          <a:p>
            <a:r>
              <a:rPr sz="1500" b="1">
                <a:solidFill>
                  <a:srgbClr val="12181D"/>
                </a:solidFill>
                <a:latin typeface="Segoe UI Semibold"/>
              </a:rPr>
              <a:t>Service</a:t>
            </a:r>
          </a:p>
          <a:p>
            <a:r>
              <a:rPr sz="1150">
                <a:solidFill>
                  <a:srgbClr val="44555F"/>
                </a:solidFill>
                <a:latin typeface="Segoe UI"/>
              </a:rPr>
              <a:t>Toutes les règles métier, derrière une interface injectée</a:t>
            </a:r>
          </a:p>
        </p:txBody>
      </p:sp>
      <p:sp>
        <p:nvSpPr>
          <p:cNvPr id="14" name="Down Arrow 13"/>
          <p:cNvSpPr/>
          <p:nvPr/>
        </p:nvSpPr>
        <p:spPr>
          <a:xfrm>
            <a:off x="3950208" y="3145536"/>
            <a:ext cx="274320" cy="128016"/>
          </a:xfrm>
          <a:prstGeom prst="downArrow">
            <a:avLst/>
          </a:prstGeom>
          <a:solidFill>
            <a:srgbClr val="6C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291840"/>
            <a:ext cx="6858000" cy="749808"/>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291840"/>
            <a:ext cx="50800" cy="749808"/>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401568"/>
            <a:ext cx="6400800" cy="548640"/>
          </a:xfrm>
          <a:prstGeom prst="rect">
            <a:avLst/>
          </a:prstGeom>
          <a:noFill/>
        </p:spPr>
        <p:txBody>
          <a:bodyPr wrap="square" lIns="0" rIns="0" tIns="0" bIns="0" anchor="t">
            <a:spAutoFit/>
          </a:bodyPr>
          <a:lstStyle/>
          <a:p>
            <a:r>
              <a:rPr sz="1500" b="1">
                <a:solidFill>
                  <a:srgbClr val="12181D"/>
                </a:solidFill>
                <a:latin typeface="Segoe UI Semibold"/>
              </a:rPr>
              <a:t>Entity Framework Core</a:t>
            </a:r>
          </a:p>
          <a:p>
            <a:r>
              <a:rPr sz="1150">
                <a:solidFill>
                  <a:srgbClr val="44555F"/>
                </a:solidFill>
                <a:latin typeface="Segoe UI"/>
              </a:rPr>
              <a:t>Traduit les objets C# en requêtes SQL, versionne le schéma</a:t>
            </a:r>
          </a:p>
        </p:txBody>
      </p:sp>
      <p:sp>
        <p:nvSpPr>
          <p:cNvPr id="18" name="Down Arrow 17"/>
          <p:cNvSpPr/>
          <p:nvPr/>
        </p:nvSpPr>
        <p:spPr>
          <a:xfrm>
            <a:off x="3950208" y="4059936"/>
            <a:ext cx="274320" cy="128016"/>
          </a:xfrm>
          <a:prstGeom prst="downArrow">
            <a:avLst/>
          </a:prstGeom>
          <a:solidFill>
            <a:srgbClr val="6C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206240"/>
            <a:ext cx="6858000" cy="749808"/>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4206240"/>
            <a:ext cx="50800" cy="749808"/>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4315968"/>
            <a:ext cx="6400800" cy="548640"/>
          </a:xfrm>
          <a:prstGeom prst="rect">
            <a:avLst/>
          </a:prstGeom>
          <a:noFill/>
        </p:spPr>
        <p:txBody>
          <a:bodyPr wrap="square" lIns="0" rIns="0" tIns="0" bIns="0" anchor="t">
            <a:spAutoFit/>
          </a:bodyPr>
          <a:lstStyle/>
          <a:p>
            <a:r>
              <a:rPr sz="1500" b="1">
                <a:solidFill>
                  <a:srgbClr val="12181D"/>
                </a:solidFill>
                <a:latin typeface="Segoe UI Semibold"/>
              </a:rPr>
              <a:t>SQL Server</a:t>
            </a:r>
          </a:p>
          <a:p>
            <a:r>
              <a:rPr sz="1150">
                <a:solidFill>
                  <a:srgbClr val="44555F"/>
                </a:solidFill>
                <a:latin typeface="Segoe UI"/>
              </a:rPr>
              <a:t>Contraintes d'unicité, transactions, stockage</a:t>
            </a:r>
          </a:p>
        </p:txBody>
      </p:sp>
      <p:sp>
        <p:nvSpPr>
          <p:cNvPr id="22" name="TextBox 21"/>
          <p:cNvSpPr txBox="1"/>
          <p:nvPr/>
        </p:nvSpPr>
        <p:spPr>
          <a:xfrm>
            <a:off x="7955279" y="1463040"/>
            <a:ext cx="3566160" cy="365760"/>
          </a:xfrm>
          <a:prstGeom prst="rect">
            <a:avLst/>
          </a:prstGeom>
          <a:noFill/>
        </p:spPr>
        <p:txBody>
          <a:bodyPr wrap="square" lIns="0" rIns="0" tIns="0" bIns="0" anchor="t">
            <a:spAutoFit/>
          </a:bodyPr>
          <a:lstStyle/>
          <a:p>
            <a:r>
              <a:rPr sz="1050" b="1">
                <a:solidFill>
                  <a:srgbClr val="1F6187"/>
                </a:solidFill>
                <a:latin typeface="Segoe UI"/>
              </a:rPr>
              <a:t>LE DÉPÔT EN CHIFFRES</a:t>
            </a:r>
          </a:p>
        </p:txBody>
      </p:sp>
      <p:sp>
        <p:nvSpPr>
          <p:cNvPr id="23" name="TextBox 22"/>
          <p:cNvSpPr txBox="1"/>
          <p:nvPr/>
        </p:nvSpPr>
        <p:spPr>
          <a:xfrm>
            <a:off x="7955279" y="1965960"/>
            <a:ext cx="3566160" cy="548640"/>
          </a:xfrm>
          <a:prstGeom prst="rect">
            <a:avLst/>
          </a:prstGeom>
          <a:noFill/>
        </p:spPr>
        <p:txBody>
          <a:bodyPr wrap="square" lIns="0" rIns="0" tIns="0" bIns="0" anchor="t">
            <a:spAutoFit/>
          </a:bodyPr>
          <a:lstStyle/>
          <a:p>
            <a:r>
              <a:rPr sz="2200" b="1">
                <a:solidFill>
                  <a:srgbClr val="12181D"/>
                </a:solidFill>
                <a:latin typeface="Segoe UI Semibold"/>
              </a:rPr>
              <a:t>42   </a:t>
            </a:r>
            <a:r>
              <a:rPr sz="1250">
                <a:solidFill>
                  <a:srgbClr val="44555F"/>
                </a:solidFill>
                <a:latin typeface="Segoe UI"/>
              </a:rPr>
              <a:t>opérations HTTP</a:t>
            </a:r>
          </a:p>
        </p:txBody>
      </p:sp>
      <p:sp>
        <p:nvSpPr>
          <p:cNvPr id="24" name="Rectangle 23"/>
          <p:cNvSpPr/>
          <p:nvPr/>
        </p:nvSpPr>
        <p:spPr>
          <a:xfrm>
            <a:off x="7955279" y="2496312"/>
            <a:ext cx="3566160"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79" y="2679192"/>
            <a:ext cx="3566160" cy="548640"/>
          </a:xfrm>
          <a:prstGeom prst="rect">
            <a:avLst/>
          </a:prstGeom>
          <a:noFill/>
        </p:spPr>
        <p:txBody>
          <a:bodyPr wrap="square" lIns="0" rIns="0" tIns="0" bIns="0" anchor="t">
            <a:spAutoFit/>
          </a:bodyPr>
          <a:lstStyle/>
          <a:p>
            <a:r>
              <a:rPr sz="2200" b="1">
                <a:solidFill>
                  <a:srgbClr val="12181D"/>
                </a:solidFill>
                <a:latin typeface="Segoe UI Semibold"/>
              </a:rPr>
              <a:t>9   </a:t>
            </a:r>
            <a:r>
              <a:rPr sz="1250">
                <a:solidFill>
                  <a:srgbClr val="44555F"/>
                </a:solidFill>
                <a:latin typeface="Segoe UI"/>
              </a:rPr>
              <a:t>contrôleurs</a:t>
            </a:r>
          </a:p>
        </p:txBody>
      </p:sp>
      <p:sp>
        <p:nvSpPr>
          <p:cNvPr id="26" name="Rectangle 25"/>
          <p:cNvSpPr/>
          <p:nvPr/>
        </p:nvSpPr>
        <p:spPr>
          <a:xfrm>
            <a:off x="7955279" y="3209544"/>
            <a:ext cx="3566160"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3392424"/>
            <a:ext cx="3566160" cy="548640"/>
          </a:xfrm>
          <a:prstGeom prst="rect">
            <a:avLst/>
          </a:prstGeom>
          <a:noFill/>
        </p:spPr>
        <p:txBody>
          <a:bodyPr wrap="square" lIns="0" rIns="0" tIns="0" bIns="0" anchor="t">
            <a:spAutoFit/>
          </a:bodyPr>
          <a:lstStyle/>
          <a:p>
            <a:r>
              <a:rPr sz="2200" b="1">
                <a:solidFill>
                  <a:srgbClr val="12181D"/>
                </a:solidFill>
                <a:latin typeface="Segoe UI Semibold"/>
              </a:rPr>
              <a:t>9   </a:t>
            </a:r>
            <a:r>
              <a:rPr sz="1250">
                <a:solidFill>
                  <a:srgbClr val="44555F"/>
                </a:solidFill>
                <a:latin typeface="Segoe UI"/>
              </a:rPr>
              <a:t>services métier</a:t>
            </a:r>
          </a:p>
        </p:txBody>
      </p:sp>
      <p:sp>
        <p:nvSpPr>
          <p:cNvPr id="28" name="Rectangle 27"/>
          <p:cNvSpPr/>
          <p:nvPr/>
        </p:nvSpPr>
        <p:spPr>
          <a:xfrm>
            <a:off x="7955279" y="3922776"/>
            <a:ext cx="3566160"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79" y="4105656"/>
            <a:ext cx="3566160" cy="548640"/>
          </a:xfrm>
          <a:prstGeom prst="rect">
            <a:avLst/>
          </a:prstGeom>
          <a:noFill/>
        </p:spPr>
        <p:txBody>
          <a:bodyPr wrap="square" lIns="0" rIns="0" tIns="0" bIns="0" anchor="t">
            <a:spAutoFit/>
          </a:bodyPr>
          <a:lstStyle/>
          <a:p>
            <a:r>
              <a:rPr sz="2200" b="1">
                <a:solidFill>
                  <a:srgbClr val="12181D"/>
                </a:solidFill>
                <a:latin typeface="Segoe UI Semibold"/>
              </a:rPr>
              <a:t>7   </a:t>
            </a:r>
            <a:r>
              <a:rPr sz="1250">
                <a:solidFill>
                  <a:srgbClr val="44555F"/>
                </a:solidFill>
                <a:latin typeface="Segoe UI"/>
              </a:rPr>
              <a:t>entités + 1 jonction</a:t>
            </a:r>
          </a:p>
        </p:txBody>
      </p:sp>
      <p:sp>
        <p:nvSpPr>
          <p:cNvPr id="30" name="Rectangle 29"/>
          <p:cNvSpPr/>
          <p:nvPr/>
        </p:nvSpPr>
        <p:spPr>
          <a:xfrm>
            <a:off x="7955279" y="4636008"/>
            <a:ext cx="3566160"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79" y="4818888"/>
            <a:ext cx="3566160" cy="548640"/>
          </a:xfrm>
          <a:prstGeom prst="rect">
            <a:avLst/>
          </a:prstGeom>
          <a:noFill/>
        </p:spPr>
        <p:txBody>
          <a:bodyPr wrap="square" lIns="0" rIns="0" tIns="0" bIns="0" anchor="t">
            <a:spAutoFit/>
          </a:bodyPr>
          <a:lstStyle/>
          <a:p>
            <a:r>
              <a:rPr sz="2200" b="1">
                <a:solidFill>
                  <a:srgbClr val="12181D"/>
                </a:solidFill>
                <a:latin typeface="Segoe UI Semibold"/>
              </a:rPr>
              <a:t>2   </a:t>
            </a:r>
            <a:r>
              <a:rPr sz="1250">
                <a:solidFill>
                  <a:srgbClr val="44555F"/>
                </a:solidFill>
                <a:latin typeface="Segoe UI"/>
              </a:rPr>
              <a:t>migrations EF Core</a:t>
            </a:r>
          </a:p>
        </p:txBody>
      </p:sp>
      <p:sp>
        <p:nvSpPr>
          <p:cNvPr id="32" name="Rectangle 31"/>
          <p:cNvSpPr/>
          <p:nvPr/>
        </p:nvSpPr>
        <p:spPr>
          <a:xfrm>
            <a:off x="7955279" y="5349240"/>
            <a:ext cx="3566160" cy="9525"/>
          </a:xfrm>
          <a:prstGeom prst="rect">
            <a:avLst/>
          </a:prstGeom>
          <a:solidFill>
            <a:srgbClr val="D2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257800"/>
            <a:ext cx="6858000" cy="548640"/>
          </a:xfrm>
          <a:prstGeom prst="rect">
            <a:avLst/>
          </a:prstGeom>
          <a:noFill/>
        </p:spPr>
        <p:txBody>
          <a:bodyPr wrap="square" lIns="0" rIns="0" tIns="0" bIns="0" anchor="t">
            <a:spAutoFit/>
          </a:bodyPr>
          <a:lstStyle/>
          <a:p>
            <a:pPr>
              <a:lnSpc>
                <a:spcPct val="100000"/>
              </a:lnSpc>
              <a:spcAft>
                <a:spcPts val="0"/>
              </a:spcAft>
            </a:pPr>
            <a:r>
              <a:rPr b="0" sz="1300">
                <a:solidFill>
                  <a:srgbClr val="6C7C86"/>
                </a:solidFill>
                <a:latin typeface="Segoe UI"/>
              </a:rPr>
              <a:t>L'API n'expose jamais les entités de la base : elle passe par des </a:t>
            </a:r>
            <a:r>
              <a:rPr b="1" sz="1300">
                <a:solidFill>
                  <a:srgbClr val="6C7C86"/>
                </a:solidFill>
                <a:latin typeface="Segoe UI"/>
              </a:rPr>
              <a:t>DTO</a:t>
            </a:r>
            <a:r>
              <a:rPr b="0" sz="1300">
                <a:solidFill>
                  <a:srgbClr val="6C7C86"/>
                </a:solidFill>
                <a:latin typeface="Segoe UI"/>
              </a:rPr>
              <a:t>, construits pour la réponse.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02 — ANALYSE ET CONCEPTION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Modèle de données</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10</a:t>
            </a:r>
          </a:p>
        </p:txBody>
      </p:sp>
      <p:sp>
        <p:nvSpPr>
          <p:cNvPr id="7" name="TextBox 6"/>
          <p:cNvSpPr txBox="1"/>
          <p:nvPr/>
        </p:nvSpPr>
        <p:spPr>
          <a:xfrm>
            <a:off x="658368" y="1371600"/>
            <a:ext cx="10874959" cy="731520"/>
          </a:xfrm>
          <a:prstGeom prst="rect">
            <a:avLst/>
          </a:prstGeom>
          <a:noFill/>
        </p:spPr>
        <p:txBody>
          <a:bodyPr wrap="square" lIns="0" rIns="0" tIns="0" bIns="0" anchor="t">
            <a:spAutoFit/>
          </a:bodyPr>
          <a:lstStyle/>
          <a:p>
            <a:pPr>
              <a:lnSpc>
                <a:spcPct val="110000"/>
              </a:lnSpc>
              <a:spcAft>
                <a:spcPts val="600"/>
              </a:spcAft>
            </a:pPr>
            <a:r>
              <a:rPr b="0" sz="1350">
                <a:solidFill>
                  <a:srgbClr val="44555F"/>
                </a:solidFill>
                <a:latin typeface="Segoe UI"/>
              </a:rPr>
              <a:t>Magasin </a:t>
            </a:r>
            <a:r>
              <a:rPr b="1" sz="1350">
                <a:solidFill>
                  <a:srgbClr val="44555F"/>
                </a:solidFill>
                <a:latin typeface="Segoe UI"/>
              </a:rPr>
              <a:t>1–∗</a:t>
            </a:r>
            <a:r>
              <a:rPr b="0" sz="1350">
                <a:solidFill>
                  <a:srgbClr val="44555F"/>
                </a:solidFill>
                <a:latin typeface="Segoe UI"/>
              </a:rPr>
              <a:t> Rayon </a:t>
            </a:r>
            <a:r>
              <a:rPr b="1" sz="1350">
                <a:solidFill>
                  <a:srgbClr val="44555F"/>
                </a:solidFill>
                <a:latin typeface="Segoe UI"/>
              </a:rPr>
              <a:t>1–∗</a:t>
            </a:r>
            <a:r>
              <a:rPr b="0" sz="1350">
                <a:solidFill>
                  <a:srgbClr val="44555F"/>
                </a:solidFill>
                <a:latin typeface="Segoe UI"/>
              </a:rPr>
              <a:t> Zone </a:t>
            </a:r>
            <a:r>
              <a:rPr b="1" sz="1350">
                <a:solidFill>
                  <a:srgbClr val="44555F"/>
                </a:solidFill>
                <a:latin typeface="Segoe UI"/>
              </a:rPr>
              <a:t>1–∗</a:t>
            </a:r>
            <a:r>
              <a:rPr b="0" sz="1350">
                <a:solidFill>
                  <a:srgbClr val="44555F"/>
                </a:solidFill>
                <a:latin typeface="Segoe UI"/>
              </a:rPr>
              <a:t> Case  ·  Case </a:t>
            </a:r>
            <a:r>
              <a:rPr b="1" sz="1350">
                <a:solidFill>
                  <a:srgbClr val="44555F"/>
                </a:solidFill>
                <a:latin typeface="Segoe UI"/>
              </a:rPr>
              <a:t>∗–∗</a:t>
            </a:r>
            <a:r>
              <a:rPr b="0" sz="1350">
                <a:solidFill>
                  <a:srgbClr val="44555F"/>
                </a:solidFill>
                <a:latin typeface="Segoe UI"/>
              </a:rPr>
              <a:t> Article — un article peut occuper plusieurs cases  ·  Mouvement = un article × une case × un mois</a:t>
            </a:r>
          </a:p>
          <a:p>
            <a:pPr>
              <a:lnSpc>
                <a:spcPct val="110000"/>
              </a:lnSpc>
              <a:spcAft>
                <a:spcPts val="0"/>
              </a:spcAft>
            </a:pPr>
            <a:r>
              <a:rPr b="0" sz="1350">
                <a:solidFill>
                  <a:srgbClr val="44555F"/>
                </a:solidFill>
                <a:latin typeface="Segoe UI"/>
              </a:rPr>
              <a:t>Codes uniques à chaque niveau  ·  unicité (article, case, mois) garantie par un index filtré  ·  le stock n'est jamais stocké, il se recalcule</a:t>
            </a:r>
          </a:p>
        </p:txBody>
      </p:sp>
      <p:pic>
        <p:nvPicPr>
          <p:cNvPr id="8" name="Picture 7" descr="classes.png"/>
          <p:cNvPicPr>
            <a:picLocks noChangeAspect="1"/>
          </p:cNvPicPr>
          <p:nvPr/>
        </p:nvPicPr>
        <p:blipFill>
          <a:blip r:embed="rId2"/>
          <a:stretch>
            <a:fillRect/>
          </a:stretch>
        </p:blipFill>
        <p:spPr>
          <a:xfrm>
            <a:off x="2683851" y="2212848"/>
            <a:ext cx="6823992" cy="3931919"/>
          </a:xfrm>
          <a:prstGeom prst="rect">
            <a:avLst/>
          </a:prstGeom>
          <a:ln w="9525">
            <a:solidFill>
              <a:srgbClr val="D2DBDF"/>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02 — ANALYSE ET CONCEPTION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Acteurs et cas d'utilisation</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11</a:t>
            </a:r>
          </a:p>
        </p:txBody>
      </p:sp>
      <p:pic>
        <p:nvPicPr>
          <p:cNvPr id="7" name="Picture 6" descr="usecase.png"/>
          <p:cNvPicPr>
            <a:picLocks noChangeAspect="1"/>
          </p:cNvPicPr>
          <p:nvPr/>
        </p:nvPicPr>
        <p:blipFill>
          <a:blip r:embed="rId2"/>
          <a:stretch>
            <a:fillRect/>
          </a:stretch>
        </p:blipFill>
        <p:spPr>
          <a:xfrm>
            <a:off x="1550165" y="1371600"/>
            <a:ext cx="4982966" cy="4572000"/>
          </a:xfrm>
          <a:prstGeom prst="rect">
            <a:avLst/>
          </a:prstGeom>
          <a:ln w="9525">
            <a:solidFill>
              <a:srgbClr val="D2DBDF"/>
            </a:solidFill>
          </a:ln>
        </p:spPr>
      </p:pic>
      <p:sp>
        <p:nvSpPr>
          <p:cNvPr id="8" name="Rectangle 7"/>
          <p:cNvSpPr/>
          <p:nvPr/>
        </p:nvSpPr>
        <p:spPr>
          <a:xfrm>
            <a:off x="7772400" y="1371600"/>
            <a:ext cx="3749039" cy="164592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10144" y="1554480"/>
            <a:ext cx="3273551" cy="1316736"/>
          </a:xfrm>
          <a:prstGeom prst="rect">
            <a:avLst/>
          </a:prstGeom>
          <a:noFill/>
        </p:spPr>
        <p:txBody>
          <a:bodyPr wrap="square" lIns="0" rIns="0" tIns="0" bIns="0" anchor="t">
            <a:spAutoFit/>
          </a:bodyPr>
          <a:lstStyle/>
          <a:p>
            <a:pPr>
              <a:spcAft>
                <a:spcPts val="900"/>
              </a:spcAft>
            </a:pPr>
            <a:r>
              <a:rPr sz="1050" b="1">
                <a:solidFill>
                  <a:srgbClr val="6C7C86"/>
                </a:solidFill>
                <a:latin typeface="Segoe UI"/>
              </a:rPr>
              <a:t>UTILISATEUR — CONSULTATION</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Tableau de bord, graphiques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Plan d'occupation, carte</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Prévision à 12 mois</a:t>
            </a:r>
          </a:p>
        </p:txBody>
      </p:sp>
      <p:sp>
        <p:nvSpPr>
          <p:cNvPr id="10" name="Rectangle 9"/>
          <p:cNvSpPr/>
          <p:nvPr/>
        </p:nvSpPr>
        <p:spPr>
          <a:xfrm>
            <a:off x="7772400" y="3200400"/>
            <a:ext cx="3749039" cy="1920240"/>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0144" y="3383280"/>
            <a:ext cx="3273551" cy="1591056"/>
          </a:xfrm>
          <a:prstGeom prst="rect">
            <a:avLst/>
          </a:prstGeom>
          <a:noFill/>
        </p:spPr>
        <p:txBody>
          <a:bodyPr wrap="square" lIns="0" rIns="0" tIns="0" bIns="0" anchor="t">
            <a:spAutoFit/>
          </a:bodyPr>
          <a:lstStyle/>
          <a:p>
            <a:pPr>
              <a:spcAft>
                <a:spcPts val="900"/>
              </a:spcAft>
            </a:pPr>
            <a:r>
              <a:rPr sz="1050" b="1">
                <a:solidFill>
                  <a:srgbClr val="1F6187"/>
                </a:solidFill>
                <a:latin typeface="Segoe UI"/>
              </a:rPr>
              <a:t>ADMINISTRATEUR — HÉRITE, PLUS :</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Structure de l'entrepôt</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Articles et seuils, mouvements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Import de fichiers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Comptes utilisateurs</a:t>
            </a:r>
          </a:p>
        </p:txBody>
      </p:sp>
      <p:sp>
        <p:nvSpPr>
          <p:cNvPr id="12" name="TextBox 11"/>
          <p:cNvSpPr txBox="1"/>
          <p:nvPr/>
        </p:nvSpPr>
        <p:spPr>
          <a:xfrm>
            <a:off x="7772400" y="5303520"/>
            <a:ext cx="3749039" cy="822960"/>
          </a:xfrm>
          <a:prstGeom prst="rect">
            <a:avLst/>
          </a:prstGeom>
          <a:noFill/>
        </p:spPr>
        <p:txBody>
          <a:bodyPr wrap="square" lIns="0" rIns="0" tIns="0" bIns="0" anchor="t">
            <a:spAutoFit/>
          </a:bodyPr>
          <a:lstStyle/>
          <a:p>
            <a:pPr>
              <a:lnSpc>
                <a:spcPct val="108000"/>
              </a:lnSpc>
              <a:spcAft>
                <a:spcPts val="0"/>
              </a:spcAft>
            </a:pPr>
            <a:r>
              <a:rPr b="0" sz="1250">
                <a:solidFill>
                  <a:srgbClr val="44555F"/>
                </a:solidFill>
                <a:latin typeface="Segoe UI"/>
              </a:rPr>
              <a:t>La séparation est vérifiée </a:t>
            </a:r>
            <a:r>
              <a:rPr b="1" sz="1250">
                <a:solidFill>
                  <a:srgbClr val="44555F"/>
                </a:solidFill>
                <a:latin typeface="Segoe UI"/>
              </a:rPr>
              <a:t>dans l'API</a:t>
            </a:r>
            <a:r>
              <a:rPr b="0" sz="1250">
                <a:solidFill>
                  <a:srgbClr val="44555F"/>
                </a:solidFill>
                <a:latin typeface="Segoe UI"/>
              </a:rPr>
              <a:t>, pas seulement dans le menu : chaque route d'écriture exige le rôle administrateur.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03 — TECHNOLOGIES ET ARCHITECTURE</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Technologies et justification des choix</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12</a:t>
            </a:r>
          </a:p>
        </p:txBody>
      </p:sp>
      <p:graphicFrame>
        <p:nvGraphicFramePr>
          <p:cNvPr id="7" name="Table 6"/>
          <p:cNvGraphicFramePr>
            <a:graphicFrameLocks noGrp="1"/>
          </p:cNvGraphicFramePr>
          <p:nvPr/>
        </p:nvGraphicFramePr>
        <p:xfrm>
          <a:off x="658368" y="1371600"/>
          <a:ext cx="10881360" cy="4480560"/>
        </p:xfrm>
        <a:graphic>
          <a:graphicData uri="http://schemas.openxmlformats.org/drawingml/2006/table">
            <a:tbl>
              <a:tblPr firstRow="0" bandRow="0">
                <a:tableStyleId>{5C22544A-7EE6-4342-B048-85BDC9FD1C3A}</a:tableStyleId>
              </a:tblPr>
              <a:tblGrid>
                <a:gridCol w="2834640"/>
                <a:gridCol w="3108960"/>
                <a:gridCol w="4937760"/>
              </a:tblGrid>
              <a:tr h="384048">
                <a:tc>
                  <a:txBody>
                    <a:bodyPr/>
                    <a:lstStyle/>
                    <a:p>
                      <a:r>
                        <a:rPr sz="1100" b="1">
                          <a:solidFill>
                            <a:srgbClr val="FFFFFF"/>
                          </a:solidFill>
                          <a:latin typeface="Segoe UI"/>
                        </a:rPr>
                        <a:t>Technologie</a:t>
                      </a:r>
                    </a:p>
                  </a:txBody>
                  <a:tcPr marL="128016" marR="128016" marT="64008" marB="64008" anchor="ctr">
                    <a:solidFill>
                      <a:srgbClr val="12181D"/>
                    </a:solidFill>
                  </a:tcPr>
                </a:tc>
                <a:tc>
                  <a:txBody>
                    <a:bodyPr/>
                    <a:lstStyle/>
                    <a:p>
                      <a:r>
                        <a:rPr sz="1100" b="1">
                          <a:solidFill>
                            <a:srgbClr val="FFFFFF"/>
                          </a:solidFill>
                          <a:latin typeface="Segoe UI"/>
                        </a:rPr>
                        <a:t>Rôle dans le projet</a:t>
                      </a:r>
                    </a:p>
                  </a:txBody>
                  <a:tcPr marL="128016" marR="128016" marT="64008" marB="64008" anchor="ctr">
                    <a:solidFill>
                      <a:srgbClr val="12181D"/>
                    </a:solidFill>
                  </a:tcPr>
                </a:tc>
                <a:tc>
                  <a:txBody>
                    <a:bodyPr/>
                    <a:lstStyle/>
                    <a:p>
                      <a:r>
                        <a:rPr sz="1100" b="1">
                          <a:solidFill>
                            <a:srgbClr val="FFFFFF"/>
                          </a:solidFill>
                          <a:latin typeface="Segoe UI"/>
                        </a:rPr>
                        <a:t>Pourquoi ce choix</a:t>
                      </a:r>
                    </a:p>
                  </a:txBody>
                  <a:tcPr marL="128016" marR="128016" marT="64008" marB="64008" anchor="ctr">
                    <a:solidFill>
                      <a:srgbClr val="12181D"/>
                    </a:solidFill>
                  </a:tcPr>
                </a:tc>
              </a:tr>
              <a:tr h="455168">
                <a:tc>
                  <a:txBody>
                    <a:bodyPr wrap="square"/>
                    <a:lstStyle/>
                    <a:p>
                      <a:r>
                        <a:rPr b="1" sz="1250">
                          <a:solidFill>
                            <a:srgbClr val="12181D"/>
                          </a:solidFill>
                          <a:latin typeface="Segoe UI"/>
                        </a:rPr>
                        <a:t>React + Vite</a:t>
                      </a:r>
                    </a:p>
                  </a:txBody>
                  <a:tcPr marL="128016" marR="128016" marT="54864" marB="54864" anchor="ctr">
                    <a:solidFill>
                      <a:srgbClr val="FFFFFF"/>
                    </a:solidFill>
                  </a:tcPr>
                </a:tc>
                <a:tc>
                  <a:txBody>
                    <a:bodyPr wrap="square"/>
                    <a:lstStyle/>
                    <a:p>
                      <a:r>
                        <a:rPr b="0" sz="1250">
                          <a:solidFill>
                            <a:srgbClr val="44555F"/>
                          </a:solidFill>
                          <a:latin typeface="Segoe UI"/>
                        </a:rPr>
                        <a:t>Interface utilisateur</a:t>
                      </a:r>
                    </a:p>
                  </a:txBody>
                  <a:tcPr marL="128016" marR="128016" marT="54864" marB="54864" anchor="ctr">
                    <a:solidFill>
                      <a:srgbClr val="FFFFFF"/>
                    </a:solidFill>
                  </a:tcPr>
                </a:tc>
                <a:tc>
                  <a:txBody>
                    <a:bodyPr wrap="square"/>
                    <a:lstStyle/>
                    <a:p>
                      <a:r>
                        <a:rPr b="0" sz="1250">
                          <a:solidFill>
                            <a:srgbClr val="44555F"/>
                          </a:solidFill>
                          <a:latin typeface="Segoe UI"/>
                        </a:rPr>
                        <a:t>Le prototype fourni était en React</a:t>
                      </a:r>
                    </a:p>
                  </a:txBody>
                  <a:tcPr marL="128016" marR="128016" marT="54864" marB="54864" anchor="ctr">
                    <a:solidFill>
                      <a:srgbClr val="FFFFFF"/>
                    </a:solidFill>
                  </a:tcPr>
                </a:tc>
              </a:tr>
              <a:tr h="455168">
                <a:tc>
                  <a:txBody>
                    <a:bodyPr wrap="square"/>
                    <a:lstStyle/>
                    <a:p>
                      <a:r>
                        <a:rPr b="1" sz="1250">
                          <a:solidFill>
                            <a:srgbClr val="12181D"/>
                          </a:solidFill>
                          <a:latin typeface="Segoe UI"/>
                        </a:rPr>
                        <a:t>Redux Toolkit</a:t>
                      </a:r>
                    </a:p>
                  </a:txBody>
                  <a:tcPr marL="128016" marR="128016" marT="54864" marB="54864" anchor="ctr">
                    <a:solidFill>
                      <a:srgbClr val="F2F5F6"/>
                    </a:solidFill>
                  </a:tcPr>
                </a:tc>
                <a:tc>
                  <a:txBody>
                    <a:bodyPr wrap="square"/>
                    <a:lstStyle/>
                    <a:p>
                      <a:r>
                        <a:rPr b="0" sz="1250">
                          <a:solidFill>
                            <a:srgbClr val="44555F"/>
                          </a:solidFill>
                          <a:latin typeface="Segoe UI"/>
                        </a:rPr>
                        <a:t>État partagé</a:t>
                      </a:r>
                    </a:p>
                  </a:txBody>
                  <a:tcPr marL="128016" marR="128016" marT="54864" marB="54864" anchor="ctr">
                    <a:solidFill>
                      <a:srgbClr val="F2F5F6"/>
                    </a:solidFill>
                  </a:tcPr>
                </a:tc>
                <a:tc>
                  <a:txBody>
                    <a:bodyPr wrap="square"/>
                    <a:lstStyle/>
                    <a:p>
                      <a:r>
                        <a:rPr b="0" sz="1250">
                          <a:solidFill>
                            <a:srgbClr val="44555F"/>
                          </a:solidFill>
                          <a:latin typeface="Segoe UI"/>
                        </a:rPr>
                        <a:t>Charger les données mensuelles une fois pour plusieurs vues</a:t>
                      </a:r>
                    </a:p>
                  </a:txBody>
                  <a:tcPr marL="128016" marR="128016" marT="54864" marB="54864" anchor="ctr">
                    <a:solidFill>
                      <a:srgbClr val="F2F5F6"/>
                    </a:solidFill>
                  </a:tcPr>
                </a:tc>
              </a:tr>
              <a:tr h="455168">
                <a:tc>
                  <a:txBody>
                    <a:bodyPr wrap="square"/>
                    <a:lstStyle/>
                    <a:p>
                      <a:r>
                        <a:rPr b="1" sz="1250">
                          <a:solidFill>
                            <a:srgbClr val="12181D"/>
                          </a:solidFill>
                          <a:latin typeface="Segoe UI"/>
                        </a:rPr>
                        <a:t>ASP.NET Core</a:t>
                      </a:r>
                    </a:p>
                  </a:txBody>
                  <a:tcPr marL="128016" marR="128016" marT="54864" marB="54864" anchor="ctr">
                    <a:solidFill>
                      <a:srgbClr val="FFFFFF"/>
                    </a:solidFill>
                  </a:tcPr>
                </a:tc>
                <a:tc>
                  <a:txBody>
                    <a:bodyPr wrap="square"/>
                    <a:lstStyle/>
                    <a:p>
                      <a:r>
                        <a:rPr b="0" sz="1250">
                          <a:solidFill>
                            <a:srgbClr val="44555F"/>
                          </a:solidFill>
                          <a:latin typeface="Segoe UI"/>
                        </a:rPr>
                        <a:t>API REST et règles métier</a:t>
                      </a:r>
                    </a:p>
                  </a:txBody>
                  <a:tcPr marL="128016" marR="128016" marT="54864" marB="54864" anchor="ctr">
                    <a:solidFill>
                      <a:srgbClr val="FFFFFF"/>
                    </a:solidFill>
                  </a:tcPr>
                </a:tc>
                <a:tc>
                  <a:txBody>
                    <a:bodyPr wrap="square"/>
                    <a:lstStyle/>
                    <a:p>
                      <a:r>
                        <a:rPr b="0" sz="1250">
                          <a:solidFill>
                            <a:srgbClr val="44555F"/>
                          </a:solidFill>
                          <a:latin typeface="Segoe UI"/>
                        </a:rPr>
                        <a:t>Pile imposée par le département informatique</a:t>
                      </a:r>
                    </a:p>
                  </a:txBody>
                  <a:tcPr marL="128016" marR="128016" marT="54864" marB="54864" anchor="ctr">
                    <a:solidFill>
                      <a:srgbClr val="FFFFFF"/>
                    </a:solidFill>
                  </a:tcPr>
                </a:tc>
              </a:tr>
              <a:tr h="455168">
                <a:tc>
                  <a:txBody>
                    <a:bodyPr wrap="square"/>
                    <a:lstStyle/>
                    <a:p>
                      <a:r>
                        <a:rPr b="1" sz="1250">
                          <a:solidFill>
                            <a:srgbClr val="12181D"/>
                          </a:solidFill>
                          <a:latin typeface="Segoe UI"/>
                        </a:rPr>
                        <a:t>Entity Framework Core</a:t>
                      </a:r>
                    </a:p>
                  </a:txBody>
                  <a:tcPr marL="128016" marR="128016" marT="54864" marB="54864" anchor="ctr">
                    <a:solidFill>
                      <a:srgbClr val="F2F5F6"/>
                    </a:solidFill>
                  </a:tcPr>
                </a:tc>
                <a:tc>
                  <a:txBody>
                    <a:bodyPr wrap="square"/>
                    <a:lstStyle/>
                    <a:p>
                      <a:r>
                        <a:rPr b="0" sz="1250">
                          <a:solidFill>
                            <a:srgbClr val="44555F"/>
                          </a:solidFill>
                          <a:latin typeface="Segoe UI"/>
                        </a:rPr>
                        <a:t>Accès aux données</a:t>
                      </a:r>
                    </a:p>
                  </a:txBody>
                  <a:tcPr marL="128016" marR="128016" marT="54864" marB="54864" anchor="ctr">
                    <a:solidFill>
                      <a:srgbClr val="F2F5F6"/>
                    </a:solidFill>
                  </a:tcPr>
                </a:tc>
                <a:tc>
                  <a:txBody>
                    <a:bodyPr wrap="square"/>
                    <a:lstStyle/>
                    <a:p>
                      <a:r>
                        <a:rPr b="0" sz="1250">
                          <a:solidFill>
                            <a:srgbClr val="44555F"/>
                          </a:solidFill>
                          <a:latin typeface="Segoe UI"/>
                        </a:rPr>
                        <a:t>Requêtes en C# et schéma versionné par migrations</a:t>
                      </a:r>
                    </a:p>
                  </a:txBody>
                  <a:tcPr marL="128016" marR="128016" marT="54864" marB="54864" anchor="ctr">
                    <a:solidFill>
                      <a:srgbClr val="F2F5F6"/>
                    </a:solidFill>
                  </a:tcPr>
                </a:tc>
              </a:tr>
              <a:tr h="455168">
                <a:tc>
                  <a:txBody>
                    <a:bodyPr wrap="square"/>
                    <a:lstStyle/>
                    <a:p>
                      <a:r>
                        <a:rPr b="1" sz="1250">
                          <a:solidFill>
                            <a:srgbClr val="12181D"/>
                          </a:solidFill>
                          <a:latin typeface="Segoe UI"/>
                        </a:rPr>
                        <a:t>SQL Server</a:t>
                      </a:r>
                    </a:p>
                  </a:txBody>
                  <a:tcPr marL="128016" marR="128016" marT="54864" marB="54864" anchor="ctr">
                    <a:solidFill>
                      <a:srgbClr val="FFFFFF"/>
                    </a:solidFill>
                  </a:tcPr>
                </a:tc>
                <a:tc>
                  <a:txBody>
                    <a:bodyPr wrap="square"/>
                    <a:lstStyle/>
                    <a:p>
                      <a:r>
                        <a:rPr b="0" sz="1250">
                          <a:solidFill>
                            <a:srgbClr val="44555F"/>
                          </a:solidFill>
                          <a:latin typeface="Segoe UI"/>
                        </a:rPr>
                        <a:t>Base relationnelle</a:t>
                      </a:r>
                    </a:p>
                  </a:txBody>
                  <a:tcPr marL="128016" marR="128016" marT="54864" marB="54864" anchor="ctr">
                    <a:solidFill>
                      <a:srgbClr val="FFFFFF"/>
                    </a:solidFill>
                  </a:tcPr>
                </a:tc>
                <a:tc>
                  <a:txBody>
                    <a:bodyPr wrap="square"/>
                    <a:lstStyle/>
                    <a:p>
                      <a:r>
                        <a:rPr b="0" sz="1250">
                          <a:solidFill>
                            <a:srgbClr val="44555F"/>
                          </a:solidFill>
                          <a:latin typeface="Segoe UI"/>
                        </a:rPr>
                        <a:t>Base déjà en place dans l'entreprise</a:t>
                      </a:r>
                    </a:p>
                  </a:txBody>
                  <a:tcPr marL="128016" marR="128016" marT="54864" marB="54864" anchor="ctr">
                    <a:solidFill>
                      <a:srgbClr val="FFFFFF"/>
                    </a:solidFill>
                  </a:tcPr>
                </a:tc>
              </a:tr>
              <a:tr h="455168">
                <a:tc>
                  <a:txBody>
                    <a:bodyPr wrap="square"/>
                    <a:lstStyle/>
                    <a:p>
                      <a:r>
                        <a:rPr b="1" sz="1250">
                          <a:solidFill>
                            <a:srgbClr val="12181D"/>
                          </a:solidFill>
                          <a:latin typeface="Segoe UI"/>
                        </a:rPr>
                        <a:t>Python</a:t>
                      </a:r>
                    </a:p>
                  </a:txBody>
                  <a:tcPr marL="128016" marR="128016" marT="54864" marB="54864" anchor="ctr">
                    <a:solidFill>
                      <a:srgbClr val="F2F5F6"/>
                    </a:solidFill>
                  </a:tcPr>
                </a:tc>
                <a:tc>
                  <a:txBody>
                    <a:bodyPr wrap="square"/>
                    <a:lstStyle/>
                    <a:p>
                      <a:r>
                        <a:rPr b="0" sz="1250">
                          <a:solidFill>
                            <a:srgbClr val="44555F"/>
                          </a:solidFill>
                          <a:latin typeface="Segoe UI"/>
                        </a:rPr>
                        <a:t>Prévision</a:t>
                      </a:r>
                    </a:p>
                  </a:txBody>
                  <a:tcPr marL="128016" marR="128016" marT="54864" marB="54864" anchor="ctr">
                    <a:solidFill>
                      <a:srgbClr val="F2F5F6"/>
                    </a:solidFill>
                  </a:tcPr>
                </a:tc>
                <a:tc>
                  <a:txBody>
                    <a:bodyPr wrap="square"/>
                    <a:lstStyle/>
                    <a:p>
                      <a:r>
                        <a:rPr b="0" sz="1250">
                          <a:solidFill>
                            <a:srgbClr val="44555F"/>
                          </a:solidFill>
                          <a:latin typeface="Segoe UI"/>
                        </a:rPr>
                        <a:t>Calcul isolé, remplaçable sans toucher à l'API</a:t>
                      </a:r>
                    </a:p>
                  </a:txBody>
                  <a:tcPr marL="128016" marR="128016" marT="54864" marB="54864" anchor="ctr">
                    <a:solidFill>
                      <a:srgbClr val="F2F5F6"/>
                    </a:solidFill>
                  </a:tcPr>
                </a:tc>
              </a:tr>
              <a:tr h="455168">
                <a:tc>
                  <a:txBody>
                    <a:bodyPr wrap="square"/>
                    <a:lstStyle/>
                    <a:p>
                      <a:r>
                        <a:rPr b="1" sz="1250">
                          <a:solidFill>
                            <a:srgbClr val="12181D"/>
                          </a:solidFill>
                          <a:latin typeface="Segoe UI"/>
                        </a:rPr>
                        <a:t>CsvHelper · ExcelJS</a:t>
                      </a:r>
                    </a:p>
                  </a:txBody>
                  <a:tcPr marL="128016" marR="128016" marT="54864" marB="54864" anchor="ctr">
                    <a:solidFill>
                      <a:srgbClr val="FFFFFF"/>
                    </a:solidFill>
                  </a:tcPr>
                </a:tc>
                <a:tc>
                  <a:txBody>
                    <a:bodyPr wrap="square"/>
                    <a:lstStyle/>
                    <a:p>
                      <a:r>
                        <a:rPr b="0" sz="1250">
                          <a:solidFill>
                            <a:srgbClr val="44555F"/>
                          </a:solidFill>
                          <a:latin typeface="Segoe UI"/>
                        </a:rPr>
                        <a:t>Fichiers</a:t>
                      </a:r>
                    </a:p>
                  </a:txBody>
                  <a:tcPr marL="128016" marR="128016" marT="54864" marB="54864" anchor="ctr">
                    <a:solidFill>
                      <a:srgbClr val="FFFFFF"/>
                    </a:solidFill>
                  </a:tcPr>
                </a:tc>
                <a:tc>
                  <a:txBody>
                    <a:bodyPr wrap="square"/>
                    <a:lstStyle/>
                    <a:p>
                      <a:r>
                        <a:rPr b="0" sz="1250">
                          <a:solidFill>
                            <a:srgbClr val="44555F"/>
                          </a:solidFill>
                          <a:latin typeface="Segoe UI"/>
                        </a:rPr>
                        <a:t>Lecture CSV côté serveur, Excel côté navigateur</a:t>
                      </a:r>
                    </a:p>
                  </a:txBody>
                  <a:tcPr marL="128016" marR="128016" marT="54864" marB="54864" anchor="ctr">
                    <a:solidFill>
                      <a:srgbClr val="FFFFFF"/>
                    </a:solidFill>
                  </a:tcPr>
                </a:tc>
              </a:tr>
              <a:tr h="455168">
                <a:tc>
                  <a:txBody>
                    <a:bodyPr wrap="square"/>
                    <a:lstStyle/>
                    <a:p>
                      <a:r>
                        <a:rPr b="1" sz="1250">
                          <a:solidFill>
                            <a:srgbClr val="12181D"/>
                          </a:solidFill>
                          <a:latin typeface="Segoe UI"/>
                        </a:rPr>
                        <a:t>ApexCharts · Leaflet</a:t>
                      </a:r>
                    </a:p>
                  </a:txBody>
                  <a:tcPr marL="128016" marR="128016" marT="54864" marB="54864" anchor="ctr">
                    <a:solidFill>
                      <a:srgbClr val="F2F5F6"/>
                    </a:solidFill>
                  </a:tcPr>
                </a:tc>
                <a:tc>
                  <a:txBody>
                    <a:bodyPr wrap="square"/>
                    <a:lstStyle/>
                    <a:p>
                      <a:r>
                        <a:rPr b="0" sz="1250">
                          <a:solidFill>
                            <a:srgbClr val="44555F"/>
                          </a:solidFill>
                          <a:latin typeface="Segoe UI"/>
                        </a:rPr>
                        <a:t>Visualisation</a:t>
                      </a:r>
                    </a:p>
                  </a:txBody>
                  <a:tcPr marL="128016" marR="128016" marT="54864" marB="54864" anchor="ctr">
                    <a:solidFill>
                      <a:srgbClr val="F2F5F6"/>
                    </a:solidFill>
                  </a:tcPr>
                </a:tc>
                <a:tc>
                  <a:txBody>
                    <a:bodyPr wrap="square"/>
                    <a:lstStyle/>
                    <a:p>
                      <a:r>
                        <a:rPr b="0" sz="1250">
                          <a:solidFill>
                            <a:srgbClr val="44555F"/>
                          </a:solidFill>
                          <a:latin typeface="Segoe UI"/>
                        </a:rPr>
                        <a:t>Graphiques et carte des sites</a:t>
                      </a:r>
                    </a:p>
                  </a:txBody>
                  <a:tcPr marL="128016" marR="128016" marT="54864" marB="54864" anchor="ctr">
                    <a:solidFill>
                      <a:srgbClr val="F2F5F6"/>
                    </a:solidFill>
                  </a:tcPr>
                </a:tc>
              </a:tr>
              <a:tr h="455168">
                <a:tc>
                  <a:txBody>
                    <a:bodyPr wrap="square"/>
                    <a:lstStyle/>
                    <a:p>
                      <a:r>
                        <a:rPr b="1" sz="1250">
                          <a:solidFill>
                            <a:srgbClr val="12181D"/>
                          </a:solidFill>
                          <a:latin typeface="Segoe UI"/>
                        </a:rPr>
                        <a:t>JWT · Swagger</a:t>
                      </a:r>
                    </a:p>
                  </a:txBody>
                  <a:tcPr marL="128016" marR="128016" marT="54864" marB="54864" anchor="ctr">
                    <a:solidFill>
                      <a:srgbClr val="FFFFFF"/>
                    </a:solidFill>
                  </a:tcPr>
                </a:tc>
                <a:tc>
                  <a:txBody>
                    <a:bodyPr wrap="square"/>
                    <a:lstStyle/>
                    <a:p>
                      <a:r>
                        <a:rPr b="0" sz="1250">
                          <a:solidFill>
                            <a:srgbClr val="44555F"/>
                          </a:solidFill>
                          <a:latin typeface="Segoe UI"/>
                        </a:rPr>
                        <a:t>Sécurité et test</a:t>
                      </a:r>
                    </a:p>
                  </a:txBody>
                  <a:tcPr marL="128016" marR="128016" marT="54864" marB="54864" anchor="ctr">
                    <a:solidFill>
                      <a:srgbClr val="FFFFFF"/>
                    </a:solidFill>
                  </a:tcPr>
                </a:tc>
                <a:tc>
                  <a:txBody>
                    <a:bodyPr wrap="square"/>
                    <a:lstStyle/>
                    <a:p>
                      <a:r>
                        <a:rPr b="0" sz="1250">
                          <a:solidFill>
                            <a:srgbClr val="44555F"/>
                          </a:solidFill>
                          <a:latin typeface="Segoe UI"/>
                        </a:rPr>
                        <a:t>Jeton signé ; test des 42 routes en développement</a:t>
                      </a:r>
                    </a:p>
                  </a:txBody>
                  <a:tcPr marL="128016" marR="128016" marT="54864" marB="54864"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04 — RÉALISATION ET FONCTIONNALITÉS</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L'application en cinq sections</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13</a:t>
            </a:r>
          </a:p>
        </p:txBody>
      </p:sp>
      <p:sp>
        <p:nvSpPr>
          <p:cNvPr id="7" name="Rectangle 6"/>
          <p:cNvSpPr/>
          <p:nvPr/>
        </p:nvSpPr>
        <p:spPr>
          <a:xfrm>
            <a:off x="658368" y="1691640"/>
            <a:ext cx="2014057" cy="26517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2014057" cy="4445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965960"/>
            <a:ext cx="1611721" cy="2103120"/>
          </a:xfrm>
          <a:prstGeom prst="rect">
            <a:avLst/>
          </a:prstGeom>
          <a:noFill/>
        </p:spPr>
        <p:txBody>
          <a:bodyPr wrap="square" lIns="0" rIns="0" tIns="0" bIns="0" anchor="t">
            <a:spAutoFit/>
          </a:bodyPr>
          <a:lstStyle/>
          <a:p>
            <a:r>
              <a:rPr sz="1600" b="1">
                <a:solidFill>
                  <a:srgbClr val="12181D"/>
                </a:solidFill>
                <a:latin typeface="Segoe UI Semibold"/>
              </a:rPr>
              <a:t>Tableau</a:t>
            </a:r>
          </a:p>
          <a:p>
            <a:r>
              <a:rPr sz="1600" b="1">
                <a:solidFill>
                  <a:srgbClr val="12181D"/>
                </a:solidFill>
                <a:latin typeface="Segoe UI Semibold"/>
              </a:rPr>
              <a:t>de bord</a:t>
            </a:r>
          </a:p>
          <a:p>
            <a:pPr>
              <a:spcBef>
                <a:spcPts val="800"/>
              </a:spcBef>
            </a:pPr>
            <a:r>
              <a:rPr sz="1200">
                <a:solidFill>
                  <a:srgbClr val="44555F"/>
                </a:solidFill>
                <a:latin typeface="Segoe UI"/>
              </a:rPr>
              <a:t>Indicateurs</a:t>
            </a:r>
          </a:p>
          <a:p>
            <a:r>
              <a:rPr sz="1200">
                <a:solidFill>
                  <a:srgbClr val="44555F"/>
                </a:solidFill>
                <a:latin typeface="Segoe UI"/>
              </a:rPr>
              <a:t>et alertes</a:t>
            </a:r>
          </a:p>
        </p:txBody>
      </p:sp>
      <p:sp>
        <p:nvSpPr>
          <p:cNvPr id="10" name="Rectangle 9"/>
          <p:cNvSpPr/>
          <p:nvPr/>
        </p:nvSpPr>
        <p:spPr>
          <a:xfrm>
            <a:off x="841248" y="3794760"/>
            <a:ext cx="914400" cy="274320"/>
          </a:xfrm>
          <a:prstGeom prst="rect">
            <a:avLst/>
          </a:prstGeom>
          <a:solidFill>
            <a:srgbClr val="E2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835908"/>
            <a:ext cx="914400" cy="228600"/>
          </a:xfrm>
          <a:prstGeom prst="rect">
            <a:avLst/>
          </a:prstGeom>
          <a:noFill/>
        </p:spPr>
        <p:txBody>
          <a:bodyPr wrap="square" lIns="0" rIns="0" tIns="0" bIns="0" anchor="t">
            <a:spAutoFit/>
          </a:bodyPr>
          <a:lstStyle/>
          <a:p>
            <a:pPr algn="ctr"/>
            <a:r>
              <a:rPr sz="1000" b="1">
                <a:solidFill>
                  <a:srgbClr val="1F6187"/>
                </a:solidFill>
                <a:latin typeface="Segoe UI"/>
              </a:rPr>
              <a:t>Tous</a:t>
            </a:r>
          </a:p>
        </p:txBody>
      </p:sp>
      <p:sp>
        <p:nvSpPr>
          <p:cNvPr id="12" name="Rectangle 11"/>
          <p:cNvSpPr/>
          <p:nvPr/>
        </p:nvSpPr>
        <p:spPr>
          <a:xfrm>
            <a:off x="2873593" y="1691640"/>
            <a:ext cx="2014057" cy="26517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73593" y="1691640"/>
            <a:ext cx="2014057" cy="4445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4761" y="1965960"/>
            <a:ext cx="1611721" cy="2103120"/>
          </a:xfrm>
          <a:prstGeom prst="rect">
            <a:avLst/>
          </a:prstGeom>
          <a:noFill/>
        </p:spPr>
        <p:txBody>
          <a:bodyPr wrap="square" lIns="0" rIns="0" tIns="0" bIns="0" anchor="t">
            <a:spAutoFit/>
          </a:bodyPr>
          <a:lstStyle/>
          <a:p>
            <a:r>
              <a:rPr sz="1600" b="1">
                <a:solidFill>
                  <a:srgbClr val="12181D"/>
                </a:solidFill>
                <a:latin typeface="Segoe UI Semibold"/>
              </a:rPr>
              <a:t>Structure</a:t>
            </a:r>
          </a:p>
          <a:p>
            <a:pPr>
              <a:spcBef>
                <a:spcPts val="800"/>
              </a:spcBef>
            </a:pPr>
            <a:r>
              <a:rPr sz="1200">
                <a:solidFill>
                  <a:srgbClr val="44555F"/>
                </a:solidFill>
                <a:latin typeface="Segoe UI"/>
              </a:rPr>
              <a:t>Magasins, rayons,</a:t>
            </a:r>
          </a:p>
          <a:p>
            <a:r>
              <a:rPr sz="1200">
                <a:solidFill>
                  <a:srgbClr val="44555F"/>
                </a:solidFill>
                <a:latin typeface="Segoe UI"/>
              </a:rPr>
              <a:t>zones, cases</a:t>
            </a:r>
          </a:p>
        </p:txBody>
      </p:sp>
      <p:sp>
        <p:nvSpPr>
          <p:cNvPr id="15" name="Rectangle 14"/>
          <p:cNvSpPr/>
          <p:nvPr/>
        </p:nvSpPr>
        <p:spPr>
          <a:xfrm>
            <a:off x="3056473" y="3794760"/>
            <a:ext cx="914400" cy="274320"/>
          </a:xfrm>
          <a:prstGeom prst="rect">
            <a:avLst/>
          </a:prstGeom>
          <a:solidFill>
            <a:srgbClr val="E7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56473" y="3835908"/>
            <a:ext cx="914400" cy="228600"/>
          </a:xfrm>
          <a:prstGeom prst="rect">
            <a:avLst/>
          </a:prstGeom>
          <a:noFill/>
        </p:spPr>
        <p:txBody>
          <a:bodyPr wrap="square" lIns="0" rIns="0" tIns="0" bIns="0" anchor="t">
            <a:spAutoFit/>
          </a:bodyPr>
          <a:lstStyle/>
          <a:p>
            <a:pPr algn="ctr"/>
            <a:r>
              <a:rPr sz="1000" b="1">
                <a:solidFill>
                  <a:srgbClr val="44555F"/>
                </a:solidFill>
                <a:latin typeface="Segoe UI"/>
              </a:rPr>
              <a:t>Admin</a:t>
            </a:r>
          </a:p>
        </p:txBody>
      </p:sp>
      <p:sp>
        <p:nvSpPr>
          <p:cNvPr id="17" name="Rectangle 16"/>
          <p:cNvSpPr/>
          <p:nvPr/>
        </p:nvSpPr>
        <p:spPr>
          <a:xfrm>
            <a:off x="5088818" y="1691640"/>
            <a:ext cx="2014057" cy="26517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88818" y="1691640"/>
            <a:ext cx="2014057" cy="4445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89986" y="1965960"/>
            <a:ext cx="1611721" cy="2103120"/>
          </a:xfrm>
          <a:prstGeom prst="rect">
            <a:avLst/>
          </a:prstGeom>
          <a:noFill/>
        </p:spPr>
        <p:txBody>
          <a:bodyPr wrap="square" lIns="0" rIns="0" tIns="0" bIns="0" anchor="t">
            <a:spAutoFit/>
          </a:bodyPr>
          <a:lstStyle/>
          <a:p>
            <a:r>
              <a:rPr sz="1600" b="1">
                <a:solidFill>
                  <a:srgbClr val="12181D"/>
                </a:solidFill>
                <a:latin typeface="Segoe UI Semibold"/>
              </a:rPr>
              <a:t>Stock</a:t>
            </a:r>
          </a:p>
          <a:p>
            <a:pPr>
              <a:spcBef>
                <a:spcPts val="800"/>
              </a:spcBef>
            </a:pPr>
            <a:r>
              <a:rPr sz="1200">
                <a:solidFill>
                  <a:srgbClr val="44555F"/>
                </a:solidFill>
                <a:latin typeface="Segoe UI"/>
              </a:rPr>
              <a:t>Articles, mouvements</a:t>
            </a:r>
          </a:p>
          <a:p>
            <a:r>
              <a:rPr sz="1200">
                <a:solidFill>
                  <a:srgbClr val="44555F"/>
                </a:solidFill>
                <a:latin typeface="Segoe UI"/>
              </a:rPr>
              <a:t>et import</a:t>
            </a:r>
          </a:p>
        </p:txBody>
      </p:sp>
      <p:sp>
        <p:nvSpPr>
          <p:cNvPr id="20" name="Rectangle 19"/>
          <p:cNvSpPr/>
          <p:nvPr/>
        </p:nvSpPr>
        <p:spPr>
          <a:xfrm>
            <a:off x="5271698" y="3794760"/>
            <a:ext cx="914400" cy="274320"/>
          </a:xfrm>
          <a:prstGeom prst="rect">
            <a:avLst/>
          </a:prstGeom>
          <a:solidFill>
            <a:srgbClr val="E7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71698" y="3835908"/>
            <a:ext cx="914400" cy="228600"/>
          </a:xfrm>
          <a:prstGeom prst="rect">
            <a:avLst/>
          </a:prstGeom>
          <a:noFill/>
        </p:spPr>
        <p:txBody>
          <a:bodyPr wrap="square" lIns="0" rIns="0" tIns="0" bIns="0" anchor="t">
            <a:spAutoFit/>
          </a:bodyPr>
          <a:lstStyle/>
          <a:p>
            <a:pPr algn="ctr"/>
            <a:r>
              <a:rPr sz="1000" b="1">
                <a:solidFill>
                  <a:srgbClr val="44555F"/>
                </a:solidFill>
                <a:latin typeface="Segoe UI"/>
              </a:rPr>
              <a:t>Admin</a:t>
            </a:r>
          </a:p>
        </p:txBody>
      </p:sp>
      <p:sp>
        <p:nvSpPr>
          <p:cNvPr id="22" name="Rectangle 21"/>
          <p:cNvSpPr/>
          <p:nvPr/>
        </p:nvSpPr>
        <p:spPr>
          <a:xfrm>
            <a:off x="7304043" y="1691640"/>
            <a:ext cx="2014057" cy="26517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04043" y="1691640"/>
            <a:ext cx="2014057" cy="4445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05211" y="1965960"/>
            <a:ext cx="1611721" cy="2103120"/>
          </a:xfrm>
          <a:prstGeom prst="rect">
            <a:avLst/>
          </a:prstGeom>
          <a:noFill/>
        </p:spPr>
        <p:txBody>
          <a:bodyPr wrap="square" lIns="0" rIns="0" tIns="0" bIns="0" anchor="t">
            <a:spAutoFit/>
          </a:bodyPr>
          <a:lstStyle/>
          <a:p>
            <a:r>
              <a:rPr sz="1600" b="1">
                <a:solidFill>
                  <a:srgbClr val="12181D"/>
                </a:solidFill>
                <a:latin typeface="Segoe UI Semibold"/>
              </a:rPr>
              <a:t>Analyse</a:t>
            </a:r>
          </a:p>
          <a:p>
            <a:pPr>
              <a:spcBef>
                <a:spcPts val="800"/>
              </a:spcBef>
            </a:pPr>
            <a:r>
              <a:rPr sz="1200">
                <a:solidFill>
                  <a:srgbClr val="44555F"/>
                </a:solidFill>
                <a:latin typeface="Segoe UI"/>
              </a:rPr>
              <a:t>Graphiques, occupation,</a:t>
            </a:r>
          </a:p>
          <a:p>
            <a:r>
              <a:rPr sz="1200">
                <a:solidFill>
                  <a:srgbClr val="44555F"/>
                </a:solidFill>
                <a:latin typeface="Segoe UI"/>
              </a:rPr>
              <a:t>carte</a:t>
            </a:r>
          </a:p>
        </p:txBody>
      </p:sp>
      <p:sp>
        <p:nvSpPr>
          <p:cNvPr id="25" name="Rectangle 24"/>
          <p:cNvSpPr/>
          <p:nvPr/>
        </p:nvSpPr>
        <p:spPr>
          <a:xfrm>
            <a:off x="7486923" y="3794760"/>
            <a:ext cx="914400" cy="274320"/>
          </a:xfrm>
          <a:prstGeom prst="rect">
            <a:avLst/>
          </a:prstGeom>
          <a:solidFill>
            <a:srgbClr val="E2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86923" y="3835908"/>
            <a:ext cx="914400" cy="228600"/>
          </a:xfrm>
          <a:prstGeom prst="rect">
            <a:avLst/>
          </a:prstGeom>
          <a:noFill/>
        </p:spPr>
        <p:txBody>
          <a:bodyPr wrap="square" lIns="0" rIns="0" tIns="0" bIns="0" anchor="t">
            <a:spAutoFit/>
          </a:bodyPr>
          <a:lstStyle/>
          <a:p>
            <a:pPr algn="ctr"/>
            <a:r>
              <a:rPr sz="1000" b="1">
                <a:solidFill>
                  <a:srgbClr val="1F6187"/>
                </a:solidFill>
                <a:latin typeface="Segoe UI"/>
              </a:rPr>
              <a:t>Tous</a:t>
            </a:r>
          </a:p>
        </p:txBody>
      </p:sp>
      <p:sp>
        <p:nvSpPr>
          <p:cNvPr id="27" name="Rectangle 26"/>
          <p:cNvSpPr/>
          <p:nvPr/>
        </p:nvSpPr>
        <p:spPr>
          <a:xfrm>
            <a:off x="9519268" y="1691640"/>
            <a:ext cx="2014057" cy="265176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19268" y="1691640"/>
            <a:ext cx="2014057" cy="4445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20436" y="1965960"/>
            <a:ext cx="1611721" cy="2103120"/>
          </a:xfrm>
          <a:prstGeom prst="rect">
            <a:avLst/>
          </a:prstGeom>
          <a:noFill/>
        </p:spPr>
        <p:txBody>
          <a:bodyPr wrap="square" lIns="0" rIns="0" tIns="0" bIns="0" anchor="t">
            <a:spAutoFit/>
          </a:bodyPr>
          <a:lstStyle/>
          <a:p>
            <a:r>
              <a:rPr sz="1600" b="1">
                <a:solidFill>
                  <a:srgbClr val="12181D"/>
                </a:solidFill>
                <a:latin typeface="Segoe UI Semibold"/>
              </a:rPr>
              <a:t>Utilisateurs</a:t>
            </a:r>
          </a:p>
          <a:p>
            <a:pPr>
              <a:spcBef>
                <a:spcPts val="800"/>
              </a:spcBef>
            </a:pPr>
            <a:r>
              <a:rPr sz="1200">
                <a:solidFill>
                  <a:srgbClr val="44555F"/>
                </a:solidFill>
                <a:latin typeface="Segoe UI"/>
              </a:rPr>
              <a:t>Comptes</a:t>
            </a:r>
          </a:p>
          <a:p>
            <a:r>
              <a:rPr sz="1200">
                <a:solidFill>
                  <a:srgbClr val="44555F"/>
                </a:solidFill>
                <a:latin typeface="Segoe UI"/>
              </a:rPr>
              <a:t>et rôles</a:t>
            </a:r>
          </a:p>
        </p:txBody>
      </p:sp>
      <p:sp>
        <p:nvSpPr>
          <p:cNvPr id="30" name="Rectangle 29"/>
          <p:cNvSpPr/>
          <p:nvPr/>
        </p:nvSpPr>
        <p:spPr>
          <a:xfrm>
            <a:off x="9702148" y="3794760"/>
            <a:ext cx="914400" cy="274320"/>
          </a:xfrm>
          <a:prstGeom prst="rect">
            <a:avLst/>
          </a:prstGeom>
          <a:solidFill>
            <a:srgbClr val="E7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02148" y="3835908"/>
            <a:ext cx="914400" cy="228600"/>
          </a:xfrm>
          <a:prstGeom prst="rect">
            <a:avLst/>
          </a:prstGeom>
          <a:noFill/>
        </p:spPr>
        <p:txBody>
          <a:bodyPr wrap="square" lIns="0" rIns="0" tIns="0" bIns="0" anchor="t">
            <a:spAutoFit/>
          </a:bodyPr>
          <a:lstStyle/>
          <a:p>
            <a:pPr algn="ctr"/>
            <a:r>
              <a:rPr sz="1000" b="1">
                <a:solidFill>
                  <a:srgbClr val="44555F"/>
                </a:solidFill>
                <a:latin typeface="Segoe UI"/>
              </a:rPr>
              <a:t>Admin</a:t>
            </a:r>
          </a:p>
        </p:txBody>
      </p:sp>
      <p:sp>
        <p:nvSpPr>
          <p:cNvPr id="32" name="TextBox 31"/>
          <p:cNvSpPr txBox="1"/>
          <p:nvPr/>
        </p:nvSpPr>
        <p:spPr>
          <a:xfrm>
            <a:off x="658368" y="4663440"/>
            <a:ext cx="10874959" cy="1097280"/>
          </a:xfrm>
          <a:prstGeom prst="rect">
            <a:avLst/>
          </a:prstGeom>
          <a:noFill/>
        </p:spPr>
        <p:txBody>
          <a:bodyPr wrap="square" lIns="0" rIns="0" tIns="0" bIns="0" anchor="t">
            <a:spAutoFit/>
          </a:bodyPr>
          <a:lstStyle/>
          <a:p>
            <a:pPr marL="237744" indent="-237744">
              <a:lnSpc>
                <a:spcPct val="100000"/>
              </a:lnSpc>
              <a:spcAft>
                <a:spcPts val="800"/>
              </a:spcAft>
            </a:pPr>
            <a:r>
              <a:rPr sz="1400" b="1">
                <a:solidFill>
                  <a:srgbClr val="1F6187"/>
                </a:solidFill>
                <a:latin typeface="Segoe UI"/>
              </a:rPr>
              <a:t>▪  </a:t>
            </a:r>
            <a:r>
              <a:rPr b="0" sz="1400">
                <a:solidFill>
                  <a:srgbClr val="44555F"/>
                </a:solidFill>
                <a:latin typeface="Segoe UI"/>
              </a:rPr>
              <a:t>Les sections sont ordonnées comme le travail se fait réellement : regarder les chiffres, mettre en place l'entrepôt, l'alimenter, analyser, gérer les accès.</a:t>
            </a:r>
          </a:p>
          <a:p>
            <a:pPr marL="237744" indent="-237744">
              <a:lnSpc>
                <a:spcPct val="100000"/>
              </a:lnSpc>
              <a:spcAft>
                <a:spcPts val="0"/>
              </a:spcAft>
            </a:pPr>
            <a:r>
              <a:rPr sz="1400" b="1">
                <a:solidFill>
                  <a:srgbClr val="1F6187"/>
                </a:solidFill>
                <a:latin typeface="Segoe UI"/>
              </a:rPr>
              <a:t>▪  </a:t>
            </a:r>
            <a:r>
              <a:rPr b="0" sz="1400">
                <a:solidFill>
                  <a:srgbClr val="44555F"/>
                </a:solidFill>
                <a:latin typeface="Segoe UI"/>
              </a:rPr>
              <a:t>Le menu est </a:t>
            </a:r>
            <a:r>
              <a:rPr b="1" sz="1400">
                <a:solidFill>
                  <a:srgbClr val="44555F"/>
                </a:solidFill>
                <a:latin typeface="Segoe UI"/>
              </a:rPr>
              <a:t>filtré par rôle</a:t>
            </a:r>
            <a:r>
              <a:rPr b="0" sz="1400">
                <a:solidFill>
                  <a:srgbClr val="44555F"/>
                </a:solidFill>
                <a:latin typeface="Segoe UI"/>
              </a:rPr>
              <a:t> : un utilisateur en lecture ne voit que le tableau de bord et l'analyse.  Thème clair / sombre mémorisé d'une session à l'autre.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04 — RÉALISATION ET FONCTIONNALITÉS</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Structure de l'entrepôt</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14</a:t>
            </a:r>
          </a:p>
        </p:txBody>
      </p:sp>
      <p:sp>
        <p:nvSpPr>
          <p:cNvPr id="7" name="TextBox 6"/>
          <p:cNvSpPr txBox="1"/>
          <p:nvPr/>
        </p:nvSpPr>
        <p:spPr>
          <a:xfrm>
            <a:off x="658368" y="1371600"/>
            <a:ext cx="4663440" cy="3840480"/>
          </a:xfrm>
          <a:prstGeom prst="rect">
            <a:avLst/>
          </a:prstGeom>
          <a:noFill/>
        </p:spPr>
        <p:txBody>
          <a:bodyPr wrap="square" lIns="0" rIns="0" tIns="0" bIns="0" anchor="t">
            <a:spAutoFit/>
          </a:bodyPr>
          <a:lstStyle/>
          <a:p>
            <a:pPr marL="237744" indent="-237744">
              <a:lnSpc>
                <a:spcPct val="106000"/>
              </a:lnSpc>
              <a:spcAft>
                <a:spcPts val="1100"/>
              </a:spcAft>
            </a:pPr>
            <a:r>
              <a:rPr sz="1400" b="1">
                <a:solidFill>
                  <a:srgbClr val="1F6187"/>
                </a:solidFill>
                <a:latin typeface="Segoe UI"/>
              </a:rPr>
              <a:t>▪  </a:t>
            </a:r>
            <a:r>
              <a:rPr b="0" sz="1400">
                <a:solidFill>
                  <a:srgbClr val="44555F"/>
                </a:solidFill>
                <a:latin typeface="Segoe UI"/>
              </a:rPr>
              <a:t>Un seul écran, navigation par fil d'Ariane : </a:t>
            </a:r>
            <a:r>
              <a:rPr b="1" sz="1400">
                <a:solidFill>
                  <a:srgbClr val="44555F"/>
                </a:solidFill>
                <a:latin typeface="Segoe UI"/>
              </a:rPr>
              <a:t>Magasins › Magasin › Rayon › Zone › Cases</a:t>
            </a:r>
          </a:p>
          <a:p>
            <a:pPr marL="237744" indent="-237744">
              <a:lnSpc>
                <a:spcPct val="106000"/>
              </a:lnSpc>
              <a:spcAft>
                <a:spcPts val="1100"/>
              </a:spcAft>
            </a:pPr>
            <a:r>
              <a:rPr sz="1400" b="1">
                <a:solidFill>
                  <a:srgbClr val="1F6187"/>
                </a:solidFill>
                <a:latin typeface="Segoe UI"/>
              </a:rPr>
              <a:t>▪  </a:t>
            </a:r>
            <a:r>
              <a:rPr b="0" sz="1400">
                <a:solidFill>
                  <a:srgbClr val="44555F"/>
                </a:solidFill>
                <a:latin typeface="Segoe UI"/>
              </a:rPr>
              <a:t>Création, modification et suppression à chaque niveau ; codes uniques </a:t>
            </a:r>
            <a:r>
              <a:rPr b="1" sz="1400">
                <a:solidFill>
                  <a:srgbClr val="44555F"/>
                </a:solidFill>
                <a:latin typeface="Segoe UI"/>
              </a:rPr>
              <a:t>par parent</a:t>
            </a:r>
          </a:p>
          <a:p>
            <a:pPr marL="237744" indent="-237744">
              <a:lnSpc>
                <a:spcPct val="106000"/>
              </a:lnSpc>
              <a:spcAft>
                <a:spcPts val="1100"/>
              </a:spcAft>
            </a:pPr>
            <a:r>
              <a:rPr sz="1400" b="1">
                <a:solidFill>
                  <a:srgbClr val="1F6187"/>
                </a:solidFill>
                <a:latin typeface="Segoe UI"/>
              </a:rPr>
              <a:t>▪  </a:t>
            </a:r>
            <a:r>
              <a:rPr b="0" sz="1400">
                <a:solidFill>
                  <a:srgbClr val="44555F"/>
                </a:solidFill>
                <a:latin typeface="Segoe UI"/>
              </a:rPr>
              <a:t>La case porte sa </a:t>
            </a:r>
            <a:r>
              <a:rPr b="1" sz="1400">
                <a:solidFill>
                  <a:srgbClr val="44555F"/>
                </a:solidFill>
                <a:latin typeface="Segoe UI"/>
              </a:rPr>
              <a:t>capacité maximale</a:t>
            </a:r>
            <a:r>
              <a:rPr b="0" sz="1400">
                <a:solidFill>
                  <a:srgbClr val="44555F"/>
                </a:solidFill>
                <a:latin typeface="Segoe UI"/>
              </a:rPr>
              <a:t> et son </a:t>
            </a:r>
            <a:r>
              <a:rPr b="1" sz="1400">
                <a:solidFill>
                  <a:srgbClr val="44555F"/>
                </a:solidFill>
                <a:latin typeface="Segoe UI"/>
              </a:rPr>
              <a:t>statut</a:t>
            </a:r>
            <a:r>
              <a:rPr b="0" sz="1400">
                <a:solidFill>
                  <a:srgbClr val="44555F"/>
                </a:solidFill>
                <a:latin typeface="Segoe UI"/>
              </a:rPr>
              <a:t>, recalculé après chaque mouvement</a:t>
            </a:r>
          </a:p>
          <a:p>
            <a:pPr marL="237744" indent="-237744">
              <a:lnSpc>
                <a:spcPct val="106000"/>
              </a:lnSpc>
              <a:spcAft>
                <a:spcPts val="1100"/>
              </a:spcAft>
            </a:pPr>
            <a:r>
              <a:rPr sz="1400" b="1">
                <a:solidFill>
                  <a:srgbClr val="1F6187"/>
                </a:solidFill>
                <a:latin typeface="Segoe UI"/>
              </a:rPr>
              <a:t>▪  </a:t>
            </a:r>
            <a:r>
              <a:rPr b="0" sz="1400">
                <a:solidFill>
                  <a:srgbClr val="44555F"/>
                </a:solidFill>
                <a:latin typeface="Segoe UI"/>
              </a:rPr>
              <a:t>Ville + pays → coordonnées géographiques obtenues automatiquement</a:t>
            </a:r>
          </a:p>
          <a:p>
            <a:pPr marL="237744" indent="-237744">
              <a:lnSpc>
                <a:spcPct val="106000"/>
              </a:lnSpc>
              <a:spcAft>
                <a:spcPts val="0"/>
              </a:spcAft>
            </a:pPr>
            <a:r>
              <a:rPr sz="1400" b="1">
                <a:solidFill>
                  <a:srgbClr val="1F6187"/>
                </a:solidFill>
                <a:latin typeface="Segoe UI"/>
              </a:rPr>
              <a:t>▪  </a:t>
            </a:r>
            <a:r>
              <a:rPr b="0" sz="1400">
                <a:solidFill>
                  <a:srgbClr val="44555F"/>
                </a:solidFill>
                <a:latin typeface="Segoe UI"/>
              </a:rPr>
              <a:t>Supprimer une case </a:t>
            </a:r>
            <a:r>
              <a:rPr b="1" sz="1400">
                <a:solidFill>
                  <a:srgbClr val="44555F"/>
                </a:solidFill>
                <a:latin typeface="Segoe UI"/>
              </a:rPr>
              <a:t>détache</a:t>
            </a:r>
            <a:r>
              <a:rPr b="0" sz="1400">
                <a:solidFill>
                  <a:srgbClr val="44555F"/>
                </a:solidFill>
                <a:latin typeface="Segoe UI"/>
              </a:rPr>
              <a:t> ses mouvements en conservant l'ancien emplacement et la date</a:t>
            </a:r>
          </a:p>
        </p:txBody>
      </p:sp>
      <p:pic>
        <p:nvPicPr>
          <p:cNvPr id="8" name="Picture 7" descr="magasins.png"/>
          <p:cNvPicPr>
            <a:picLocks noChangeAspect="1"/>
          </p:cNvPicPr>
          <p:nvPr/>
        </p:nvPicPr>
        <p:blipFill>
          <a:blip r:embed="rId2"/>
          <a:stretch>
            <a:fillRect/>
          </a:stretch>
        </p:blipFill>
        <p:spPr>
          <a:xfrm>
            <a:off x="5532120" y="1820619"/>
            <a:ext cx="5989320" cy="1296521"/>
          </a:xfrm>
          <a:prstGeom prst="rect">
            <a:avLst/>
          </a:prstGeom>
          <a:ln w="9525">
            <a:solidFill>
              <a:srgbClr val="D2DBDF"/>
            </a:solidFill>
          </a:ln>
        </p:spPr>
      </p:pic>
      <p:pic>
        <p:nvPicPr>
          <p:cNvPr id="9" name="Picture 8" descr="cases.png"/>
          <p:cNvPicPr>
            <a:picLocks noChangeAspect="1"/>
          </p:cNvPicPr>
          <p:nvPr/>
        </p:nvPicPr>
        <p:blipFill>
          <a:blip r:embed="rId3"/>
          <a:stretch>
            <a:fillRect/>
          </a:stretch>
        </p:blipFill>
        <p:spPr>
          <a:xfrm>
            <a:off x="5532120" y="3874938"/>
            <a:ext cx="5989320" cy="1851324"/>
          </a:xfrm>
          <a:prstGeom prst="rect">
            <a:avLst/>
          </a:prstGeom>
          <a:ln w="9525">
            <a:solidFill>
              <a:srgbClr val="D2DBDF"/>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04 — RÉALISATION ET FONCTIONNALITÉS</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Articles, seuils et stock net</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15</a:t>
            </a:r>
          </a:p>
        </p:txBody>
      </p:sp>
      <p:sp>
        <p:nvSpPr>
          <p:cNvPr id="7" name="TextBox 6"/>
          <p:cNvSpPr txBox="1"/>
          <p:nvPr/>
        </p:nvSpPr>
        <p:spPr>
          <a:xfrm>
            <a:off x="658368" y="1371600"/>
            <a:ext cx="4480560" cy="4023360"/>
          </a:xfrm>
          <a:prstGeom prst="rect">
            <a:avLst/>
          </a:prstGeom>
          <a:noFill/>
        </p:spPr>
        <p:txBody>
          <a:bodyPr wrap="square" lIns="0" rIns="0" tIns="0" bIns="0" anchor="t">
            <a:spAutoFit/>
          </a:bodyPr>
          <a:lstStyle/>
          <a:p>
            <a:pPr marL="237744" indent="-237744">
              <a:lnSpc>
                <a:spcPct val="106000"/>
              </a:lnSpc>
              <a:spcAft>
                <a:spcPts val="1200"/>
              </a:spcAft>
            </a:pPr>
            <a:r>
              <a:rPr sz="1400" b="1">
                <a:solidFill>
                  <a:srgbClr val="1F6187"/>
                </a:solidFill>
                <a:latin typeface="Segoe UI"/>
              </a:rPr>
              <a:t>▪  </a:t>
            </a:r>
            <a:r>
              <a:rPr b="0" sz="1400">
                <a:solidFill>
                  <a:srgbClr val="44555F"/>
                </a:solidFill>
                <a:latin typeface="Segoe UI"/>
              </a:rPr>
              <a:t>Article = code unique </a:t>
            </a:r>
            <a:r>
              <a:rPr sz="1400">
                <a:solidFill>
                  <a:srgbClr val="44555F"/>
                </a:solidFill>
                <a:latin typeface="Consolas"/>
              </a:rPr>
              <a:t>ART-000</a:t>
            </a:r>
            <a:r>
              <a:rPr b="0" sz="1400">
                <a:solidFill>
                  <a:srgbClr val="44555F"/>
                </a:solidFill>
                <a:latin typeface="Segoe UI"/>
              </a:rPr>
              <a:t> + désignation + seuil + emplacement(s)</a:t>
            </a:r>
          </a:p>
          <a:p>
            <a:pPr marL="237744" indent="-237744">
              <a:lnSpc>
                <a:spcPct val="106000"/>
              </a:lnSpc>
              <a:spcAft>
                <a:spcPts val="1200"/>
              </a:spcAft>
            </a:pPr>
            <a:r>
              <a:rPr sz="1400" b="1">
                <a:solidFill>
                  <a:srgbClr val="1F6187"/>
                </a:solidFill>
                <a:latin typeface="Segoe UI"/>
              </a:rPr>
              <a:t>▪  </a:t>
            </a:r>
            <a:r>
              <a:rPr b="0" sz="1400">
                <a:solidFill>
                  <a:srgbClr val="44555F"/>
                </a:solidFill>
                <a:latin typeface="Segoe UI"/>
              </a:rPr>
              <a:t>L'</a:t>
            </a:r>
            <a:r>
              <a:rPr b="1" sz="1400">
                <a:solidFill>
                  <a:srgbClr val="44555F"/>
                </a:solidFill>
                <a:latin typeface="Segoe UI"/>
              </a:rPr>
              <a:t>API</a:t>
            </a:r>
            <a:r>
              <a:rPr b="0" sz="1400">
                <a:solidFill>
                  <a:srgbClr val="44555F"/>
                </a:solidFill>
                <a:latin typeface="Segoe UI"/>
              </a:rPr>
              <a:t> calcule entrées cumulées, sorties cumulées, </a:t>
            </a:r>
            <a:r>
              <a:rPr b="1" sz="1400">
                <a:solidFill>
                  <a:srgbClr val="44555F"/>
                </a:solidFill>
                <a:latin typeface="Segoe UI"/>
              </a:rPr>
              <a:t>stock net</a:t>
            </a:r>
            <a:r>
              <a:rPr b="0" sz="1400">
                <a:solidFill>
                  <a:srgbClr val="44555F"/>
                </a:solidFill>
                <a:latin typeface="Segoe UI"/>
              </a:rPr>
              <a:t> et capacité totale — pas l'interface</a:t>
            </a:r>
          </a:p>
          <a:p>
            <a:pPr marL="237744" indent="-237744">
              <a:lnSpc>
                <a:spcPct val="106000"/>
              </a:lnSpc>
              <a:spcAft>
                <a:spcPts val="1200"/>
              </a:spcAft>
            </a:pPr>
            <a:r>
              <a:rPr sz="1400" b="1">
                <a:solidFill>
                  <a:srgbClr val="1F6187"/>
                </a:solidFill>
                <a:latin typeface="Segoe UI"/>
              </a:rPr>
              <a:t>▪  </a:t>
            </a:r>
            <a:r>
              <a:rPr b="0" sz="1400">
                <a:solidFill>
                  <a:srgbClr val="44555F"/>
                </a:solidFill>
                <a:latin typeface="Segoe UI"/>
              </a:rPr>
              <a:t>Stock net &lt; seuil → </a:t>
            </a:r>
            <a:r>
              <a:rPr b="1" sz="1400">
                <a:solidFill>
                  <a:srgbClr val="44555F"/>
                </a:solidFill>
                <a:latin typeface="Segoe UI"/>
              </a:rPr>
              <a:t>alerte de réapprovisionnement</a:t>
            </a:r>
            <a:r>
              <a:rPr b="0" sz="1400">
                <a:solidFill>
                  <a:srgbClr val="44555F"/>
                </a:solidFill>
                <a:latin typeface="Segoe UI"/>
              </a:rPr>
              <a:t> sur le tableau de bord</a:t>
            </a:r>
          </a:p>
          <a:p>
            <a:pPr marL="237744" indent="-237744">
              <a:lnSpc>
                <a:spcPct val="106000"/>
              </a:lnSpc>
              <a:spcAft>
                <a:spcPts val="1200"/>
              </a:spcAft>
            </a:pPr>
            <a:r>
              <a:rPr sz="1400" b="1">
                <a:solidFill>
                  <a:srgbClr val="1F6187"/>
                </a:solidFill>
                <a:latin typeface="Segoe UI"/>
              </a:rPr>
              <a:t>▪  </a:t>
            </a:r>
            <a:r>
              <a:rPr b="0" sz="1400">
                <a:solidFill>
                  <a:srgbClr val="44555F"/>
                </a:solidFill>
                <a:latin typeface="Segoe UI"/>
              </a:rPr>
              <a:t>Supprimer un article qui a un historique le </a:t>
            </a:r>
            <a:r>
              <a:rPr b="1" sz="1400">
                <a:solidFill>
                  <a:srgbClr val="44555F"/>
                </a:solidFill>
                <a:latin typeface="Segoe UI"/>
              </a:rPr>
              <a:t>désactive</a:t>
            </a:r>
            <a:r>
              <a:rPr b="0" sz="1400">
                <a:solidFill>
                  <a:srgbClr val="44555F"/>
                </a:solidFill>
                <a:latin typeface="Segoe UI"/>
              </a:rPr>
              <a:t> au lieu de l'effacer</a:t>
            </a:r>
          </a:p>
          <a:p>
            <a:pPr marL="237744" indent="-237744">
              <a:lnSpc>
                <a:spcPct val="106000"/>
              </a:lnSpc>
              <a:spcAft>
                <a:spcPts val="0"/>
              </a:spcAft>
            </a:pPr>
            <a:r>
              <a:rPr sz="1400" b="1">
                <a:solidFill>
                  <a:srgbClr val="1F6187"/>
                </a:solidFill>
                <a:latin typeface="Segoe UI"/>
              </a:rPr>
              <a:t>▪  </a:t>
            </a:r>
            <a:r>
              <a:rPr b="0" sz="1400">
                <a:solidFill>
                  <a:srgbClr val="44555F"/>
                </a:solidFill>
                <a:latin typeface="Segoe UI"/>
              </a:rPr>
              <a:t>Un article peut occuper plusieurs cases : son emplacement affiché est recalculé à chaque changement</a:t>
            </a:r>
          </a:p>
        </p:txBody>
      </p:sp>
      <p:pic>
        <p:nvPicPr>
          <p:cNvPr id="8" name="Picture 7" descr="articles.png"/>
          <p:cNvPicPr>
            <a:picLocks noChangeAspect="1"/>
          </p:cNvPicPr>
          <p:nvPr/>
        </p:nvPicPr>
        <p:blipFill>
          <a:blip r:embed="rId2"/>
          <a:stretch>
            <a:fillRect/>
          </a:stretch>
        </p:blipFill>
        <p:spPr>
          <a:xfrm>
            <a:off x="5349240" y="2488387"/>
            <a:ext cx="6172200" cy="2338425"/>
          </a:xfrm>
          <a:prstGeom prst="rect">
            <a:avLst/>
          </a:prstGeom>
          <a:ln w="9525">
            <a:solidFill>
              <a:srgbClr val="D2DBDF"/>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04 — RÉALISATION ET FONCTIONNALITÉS</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Mouvements mensuels</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16</a:t>
            </a:r>
          </a:p>
        </p:txBody>
      </p:sp>
      <p:pic>
        <p:nvPicPr>
          <p:cNvPr id="7" name="Picture 6" descr="mouvements.png"/>
          <p:cNvPicPr>
            <a:picLocks noChangeAspect="1"/>
          </p:cNvPicPr>
          <p:nvPr/>
        </p:nvPicPr>
        <p:blipFill>
          <a:blip r:embed="rId2"/>
          <a:stretch>
            <a:fillRect/>
          </a:stretch>
        </p:blipFill>
        <p:spPr>
          <a:xfrm>
            <a:off x="658368" y="1521462"/>
            <a:ext cx="7315200" cy="4180836"/>
          </a:xfrm>
          <a:prstGeom prst="rect">
            <a:avLst/>
          </a:prstGeom>
          <a:ln w="9525">
            <a:solidFill>
              <a:srgbClr val="D2DBDF"/>
            </a:solidFill>
          </a:ln>
        </p:spPr>
      </p:pic>
      <p:sp>
        <p:nvSpPr>
          <p:cNvPr id="8" name="Rectangle 7"/>
          <p:cNvSpPr/>
          <p:nvPr/>
        </p:nvSpPr>
        <p:spPr>
          <a:xfrm>
            <a:off x="8321040" y="1371600"/>
            <a:ext cx="3200400" cy="4480560"/>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58784" y="1554480"/>
            <a:ext cx="2724912" cy="4151376"/>
          </a:xfrm>
          <a:prstGeom prst="rect">
            <a:avLst/>
          </a:prstGeom>
          <a:noFill/>
        </p:spPr>
        <p:txBody>
          <a:bodyPr wrap="square" lIns="0" rIns="0" tIns="0" bIns="0" anchor="t">
            <a:spAutoFit/>
          </a:bodyPr>
          <a:lstStyle/>
          <a:p>
            <a:pPr>
              <a:spcAft>
                <a:spcPts val="900"/>
              </a:spcAft>
            </a:pPr>
            <a:r>
              <a:rPr sz="1050" b="1">
                <a:solidFill>
                  <a:srgbClr val="1F6187"/>
                </a:solidFill>
                <a:latin typeface="Segoe UI"/>
              </a:rPr>
              <a:t>LES RÈGLES INVISIBLES À L'ÉCRAN</a:t>
            </a:r>
          </a:p>
          <a:p>
            <a:pPr marL="237744" indent="-237744">
              <a:lnSpc>
                <a:spcPct val="102000"/>
              </a:lnSpc>
              <a:spcAft>
                <a:spcPts val="700"/>
              </a:spcAft>
            </a:pPr>
            <a:r>
              <a:rPr sz="1300" b="1">
                <a:solidFill>
                  <a:srgbClr val="1F6187"/>
                </a:solidFill>
                <a:latin typeface="Segoe UI"/>
              </a:rPr>
              <a:t>▪  </a:t>
            </a:r>
            <a:r>
              <a:rPr b="0" sz="1300">
                <a:solidFill>
                  <a:srgbClr val="44555F"/>
                </a:solidFill>
                <a:latin typeface="Segoe UI"/>
              </a:rPr>
              <a:t>Un mouvement = un article × une case × un mois</a:t>
            </a:r>
          </a:p>
          <a:p>
            <a:pPr marL="237744" indent="-237744">
              <a:lnSpc>
                <a:spcPct val="102000"/>
              </a:lnSpc>
              <a:spcAft>
                <a:spcPts val="700"/>
              </a:spcAft>
            </a:pPr>
            <a:r>
              <a:rPr sz="1300" b="1">
                <a:solidFill>
                  <a:srgbClr val="1F6187"/>
                </a:solidFill>
                <a:latin typeface="Segoe UI"/>
              </a:rPr>
              <a:t>▪  </a:t>
            </a:r>
            <a:r>
              <a:rPr b="0" sz="1300">
                <a:solidFill>
                  <a:srgbClr val="44555F"/>
                </a:solidFill>
                <a:latin typeface="Segoe UI"/>
              </a:rPr>
              <a:t>Unicité imposée par la base, pas seulement par le code</a:t>
            </a:r>
          </a:p>
          <a:p>
            <a:pPr marL="237744" indent="-237744">
              <a:lnSpc>
                <a:spcPct val="102000"/>
              </a:lnSpc>
              <a:spcAft>
                <a:spcPts val="700"/>
              </a:spcAft>
            </a:pPr>
            <a:r>
              <a:rPr sz="1300" b="1">
                <a:solidFill>
                  <a:srgbClr val="1F6187"/>
                </a:solidFill>
                <a:latin typeface="Segoe UI"/>
              </a:rPr>
              <a:t>▪  </a:t>
            </a:r>
            <a:r>
              <a:rPr b="0" sz="1300">
                <a:solidFill>
                  <a:srgbClr val="44555F"/>
                </a:solidFill>
                <a:latin typeface="Segoe UI"/>
              </a:rPr>
              <a:t>Contrôle chronologique : refus si le stock devient négatif à un mois donné</a:t>
            </a:r>
          </a:p>
          <a:p>
            <a:pPr marL="237744" indent="-237744">
              <a:lnSpc>
                <a:spcPct val="102000"/>
              </a:lnSpc>
              <a:spcAft>
                <a:spcPts val="700"/>
              </a:spcAft>
            </a:pPr>
            <a:r>
              <a:rPr sz="1300" b="1">
                <a:solidFill>
                  <a:srgbClr val="1F6187"/>
                </a:solidFill>
                <a:latin typeface="Segoe UI"/>
              </a:rPr>
              <a:t>▪  </a:t>
            </a:r>
            <a:r>
              <a:rPr b="0" sz="1300">
                <a:solidFill>
                  <a:srgbClr val="44555F"/>
                </a:solidFill>
                <a:latin typeface="Segoe UI"/>
              </a:rPr>
              <a:t>Après chaque écriture, statut de la case et emplacement de l'article recalculés</a:t>
            </a:r>
          </a:p>
          <a:p>
            <a:pPr marL="237744" indent="-237744">
              <a:lnSpc>
                <a:spcPct val="102000"/>
              </a:lnSpc>
              <a:spcAft>
                <a:spcPts val="700"/>
              </a:spcAft>
            </a:pPr>
            <a:r>
              <a:rPr sz="1300" b="1">
                <a:solidFill>
                  <a:srgbClr val="1F6187"/>
                </a:solidFill>
                <a:latin typeface="Segoe UI"/>
              </a:rPr>
              <a:t>▪  </a:t>
            </a:r>
            <a:r>
              <a:rPr b="0" sz="1300">
                <a:solidFill>
                  <a:srgbClr val="44555F"/>
                </a:solidFill>
                <a:latin typeface="Segoe UI"/>
              </a:rPr>
              <a:t>720 mouvements dans le jeu de démonstration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05 — IMPORT, EXPORT ET PRÉVISION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Import CSV / Excel : le pipeline</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17</a:t>
            </a:r>
          </a:p>
        </p:txBody>
      </p:sp>
      <p:sp>
        <p:nvSpPr>
          <p:cNvPr id="7" name="Rectangle 6"/>
          <p:cNvSpPr/>
          <p:nvPr/>
        </p:nvSpPr>
        <p:spPr>
          <a:xfrm>
            <a:off x="658368" y="1353312"/>
            <a:ext cx="10874959" cy="566928"/>
          </a:xfrm>
          <a:prstGeom prst="rect">
            <a:avLst/>
          </a:prstGeom>
          <a:solidFill>
            <a:srgbClr val="F7E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53312"/>
            <a:ext cx="44450" cy="566928"/>
          </a:xfrm>
          <a:prstGeom prst="rect">
            <a:avLst/>
          </a:prstGeom>
          <a:solidFill>
            <a:srgbClr val="965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481328"/>
            <a:ext cx="10417759" cy="365760"/>
          </a:xfrm>
          <a:prstGeom prst="rect">
            <a:avLst/>
          </a:prstGeom>
          <a:noFill/>
        </p:spPr>
        <p:txBody>
          <a:bodyPr wrap="square" lIns="0" rIns="0" tIns="0" bIns="0" anchor="t">
            <a:spAutoFit/>
          </a:bodyPr>
          <a:lstStyle/>
          <a:p>
            <a:r>
              <a:rPr b="0" sz="1350">
                <a:solidFill>
                  <a:srgbClr val="44555F"/>
                </a:solidFill>
                <a:latin typeface="Segoe UI"/>
              </a:rPr>
              <a:t>Un fichier réel n'est jamais propre : Windows-1252, séparateur « ; », dates converties par Excel, décimales, codes mal écrits.</a:t>
            </a:r>
          </a:p>
        </p:txBody>
      </p:sp>
      <p:sp>
        <p:nvSpPr>
          <p:cNvPr id="10" name="Chevron 9"/>
          <p:cNvSpPr/>
          <p:nvPr/>
        </p:nvSpPr>
        <p:spPr>
          <a:xfrm>
            <a:off x="658368" y="2212848"/>
            <a:ext cx="1766773" cy="786384"/>
          </a:xfrm>
          <a:prstGeom prst="chevron">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150" b="1">
                <a:solidFill>
                  <a:srgbClr val="12181D"/>
                </a:solidFill>
                <a:latin typeface="Segoe UI"/>
              </a:rPr>
              <a:t>1. Lecture</a:t>
            </a:r>
          </a:p>
          <a:p>
            <a:pPr algn="ctr"/>
            <a:r>
              <a:rPr sz="900">
                <a:solidFill>
                  <a:srgbClr val="44555F"/>
                </a:solidFill>
                <a:latin typeface="Segoe UI"/>
              </a:rPr>
              <a:t>encodage + séparateur</a:t>
            </a:r>
          </a:p>
        </p:txBody>
      </p:sp>
      <p:sp>
        <p:nvSpPr>
          <p:cNvPr id="11" name="Chevron 10"/>
          <p:cNvSpPr/>
          <p:nvPr/>
        </p:nvSpPr>
        <p:spPr>
          <a:xfrm>
            <a:off x="2480005" y="2212848"/>
            <a:ext cx="1766773" cy="786384"/>
          </a:xfrm>
          <a:prstGeom prst="chevron">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150" b="1">
                <a:solidFill>
                  <a:srgbClr val="12181D"/>
                </a:solidFill>
                <a:latin typeface="Segoe UI"/>
              </a:rPr>
              <a:t>2. Structure</a:t>
            </a:r>
          </a:p>
          <a:p>
            <a:pPr algn="ctr"/>
            <a:r>
              <a:rPr sz="900">
                <a:solidFill>
                  <a:srgbClr val="44555F"/>
                </a:solidFill>
                <a:latin typeface="Segoe UI"/>
              </a:rPr>
              <a:t>6 colonnes attendues</a:t>
            </a:r>
          </a:p>
        </p:txBody>
      </p:sp>
      <p:sp>
        <p:nvSpPr>
          <p:cNvPr id="12" name="Chevron 11"/>
          <p:cNvSpPr/>
          <p:nvPr/>
        </p:nvSpPr>
        <p:spPr>
          <a:xfrm>
            <a:off x="4301642" y="2212848"/>
            <a:ext cx="1766773" cy="786384"/>
          </a:xfrm>
          <a:prstGeom prst="chevron">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150" b="1">
                <a:solidFill>
                  <a:srgbClr val="12181D"/>
                </a:solidFill>
                <a:latin typeface="Segoe UI"/>
              </a:rPr>
              <a:t>3. Nettoyage</a:t>
            </a:r>
          </a:p>
          <a:p>
            <a:pPr algn="ctr"/>
            <a:r>
              <a:rPr sz="900">
                <a:solidFill>
                  <a:srgbClr val="44555F"/>
                </a:solidFill>
                <a:latin typeface="Segoe UI"/>
              </a:rPr>
              <a:t>codes, mois, quantités</a:t>
            </a:r>
          </a:p>
        </p:txBody>
      </p:sp>
      <p:sp>
        <p:nvSpPr>
          <p:cNvPr id="13" name="Chevron 12"/>
          <p:cNvSpPr/>
          <p:nvPr/>
        </p:nvSpPr>
        <p:spPr>
          <a:xfrm>
            <a:off x="6123279" y="2212848"/>
            <a:ext cx="1766773" cy="786384"/>
          </a:xfrm>
          <a:prstGeom prst="chevron">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150" b="1">
                <a:solidFill>
                  <a:srgbClr val="12181D"/>
                </a:solidFill>
                <a:latin typeface="Segoe UI"/>
              </a:rPr>
              <a:t>4. Résolution</a:t>
            </a:r>
          </a:p>
          <a:p>
            <a:pPr algn="ctr"/>
            <a:r>
              <a:rPr sz="900">
                <a:solidFill>
                  <a:srgbClr val="44555F"/>
                </a:solidFill>
                <a:latin typeface="Segoe UI"/>
              </a:rPr>
              <a:t>article + emplacement</a:t>
            </a:r>
          </a:p>
        </p:txBody>
      </p:sp>
      <p:sp>
        <p:nvSpPr>
          <p:cNvPr id="14" name="Chevron 13"/>
          <p:cNvSpPr/>
          <p:nvPr/>
        </p:nvSpPr>
        <p:spPr>
          <a:xfrm>
            <a:off x="7944916" y="2212848"/>
            <a:ext cx="1766773" cy="786384"/>
          </a:xfrm>
          <a:prstGeom prst="chevron">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150" b="1">
                <a:solidFill>
                  <a:srgbClr val="12181D"/>
                </a:solidFill>
                <a:latin typeface="Segoe UI"/>
              </a:rPr>
              <a:t>5. Cohérence</a:t>
            </a:r>
          </a:p>
          <a:p>
            <a:pPr algn="ctr"/>
            <a:r>
              <a:rPr sz="900">
                <a:solidFill>
                  <a:srgbClr val="44555F"/>
                </a:solidFill>
                <a:latin typeface="Segoe UI"/>
              </a:rPr>
              <a:t>doublons, stock</a:t>
            </a:r>
          </a:p>
        </p:txBody>
      </p:sp>
      <p:sp>
        <p:nvSpPr>
          <p:cNvPr id="15" name="Chevron 14"/>
          <p:cNvSpPr/>
          <p:nvPr/>
        </p:nvSpPr>
        <p:spPr>
          <a:xfrm>
            <a:off x="9766553" y="2212848"/>
            <a:ext cx="1766773" cy="786384"/>
          </a:xfrm>
          <a:prstGeom prst="chevron">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150" b="1">
                <a:solidFill>
                  <a:srgbClr val="12181D"/>
                </a:solidFill>
                <a:latin typeface="Segoe UI"/>
              </a:rPr>
              <a:t>6. Écriture</a:t>
            </a:r>
          </a:p>
          <a:p>
            <a:pPr algn="ctr"/>
            <a:r>
              <a:rPr sz="900">
                <a:solidFill>
                  <a:srgbClr val="44555F"/>
                </a:solidFill>
                <a:latin typeface="Segoe UI"/>
              </a:rPr>
              <a:t>une transaction</a:t>
            </a:r>
          </a:p>
        </p:txBody>
      </p:sp>
      <p:sp>
        <p:nvSpPr>
          <p:cNvPr id="16" name="Rectangle 15"/>
          <p:cNvSpPr/>
          <p:nvPr/>
        </p:nvSpPr>
        <p:spPr>
          <a:xfrm>
            <a:off x="658368" y="3246120"/>
            <a:ext cx="310896" cy="310896"/>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287268"/>
            <a:ext cx="310896" cy="256032"/>
          </a:xfrm>
          <a:prstGeom prst="rect">
            <a:avLst/>
          </a:prstGeom>
          <a:noFill/>
        </p:spPr>
        <p:txBody>
          <a:bodyPr wrap="square" lIns="0" rIns="0" tIns="0" bIns="0" anchor="t">
            <a:spAutoFit/>
          </a:bodyPr>
          <a:lstStyle/>
          <a:p>
            <a:pPr algn="ctr"/>
            <a:r>
              <a:rPr sz="1150" b="1">
                <a:solidFill>
                  <a:srgbClr val="FFFFFF"/>
                </a:solidFill>
                <a:latin typeface="Segoe UI"/>
              </a:rPr>
              <a:t>1</a:t>
            </a:r>
          </a:p>
        </p:txBody>
      </p:sp>
      <p:sp>
        <p:nvSpPr>
          <p:cNvPr id="18" name="TextBox 17"/>
          <p:cNvSpPr txBox="1"/>
          <p:nvPr/>
        </p:nvSpPr>
        <p:spPr>
          <a:xfrm>
            <a:off x="1161288" y="3278124"/>
            <a:ext cx="10372039" cy="384048"/>
          </a:xfrm>
          <a:prstGeom prst="rect">
            <a:avLst/>
          </a:prstGeom>
          <a:noFill/>
        </p:spPr>
        <p:txBody>
          <a:bodyPr wrap="square" lIns="0" rIns="0" tIns="0" bIns="0" anchor="t">
            <a:spAutoFit/>
          </a:bodyPr>
          <a:lstStyle/>
          <a:p>
            <a:r>
              <a:rPr b="0" sz="1300">
                <a:solidFill>
                  <a:srgbClr val="44555F"/>
                </a:solidFill>
                <a:latin typeface="Segoe UI"/>
              </a:rPr>
              <a:t>Encodage détecté (UTF-8 ou Windows-1252), accents réparés ; séparateur détecté parmi , ; tabulation |</a:t>
            </a:r>
          </a:p>
        </p:txBody>
      </p:sp>
      <p:sp>
        <p:nvSpPr>
          <p:cNvPr id="19" name="Rectangle 18"/>
          <p:cNvSpPr/>
          <p:nvPr/>
        </p:nvSpPr>
        <p:spPr>
          <a:xfrm>
            <a:off x="658368" y="3721608"/>
            <a:ext cx="310896" cy="310896"/>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762756"/>
            <a:ext cx="310896" cy="256032"/>
          </a:xfrm>
          <a:prstGeom prst="rect">
            <a:avLst/>
          </a:prstGeom>
          <a:noFill/>
        </p:spPr>
        <p:txBody>
          <a:bodyPr wrap="square" lIns="0" rIns="0" tIns="0" bIns="0" anchor="t">
            <a:spAutoFit/>
          </a:bodyPr>
          <a:lstStyle/>
          <a:p>
            <a:pPr algn="ctr"/>
            <a:r>
              <a:rPr sz="1150" b="1">
                <a:solidFill>
                  <a:srgbClr val="FFFFFF"/>
                </a:solidFill>
                <a:latin typeface="Segoe UI"/>
              </a:rPr>
              <a:t>2</a:t>
            </a:r>
          </a:p>
        </p:txBody>
      </p:sp>
      <p:sp>
        <p:nvSpPr>
          <p:cNvPr id="21" name="TextBox 20"/>
          <p:cNvSpPr txBox="1"/>
          <p:nvPr/>
        </p:nvSpPr>
        <p:spPr>
          <a:xfrm>
            <a:off x="1161288" y="3753612"/>
            <a:ext cx="10372039" cy="384048"/>
          </a:xfrm>
          <a:prstGeom prst="rect">
            <a:avLst/>
          </a:prstGeom>
          <a:noFill/>
        </p:spPr>
        <p:txBody>
          <a:bodyPr wrap="square" lIns="0" rIns="0" tIns="0" bIns="0" anchor="t">
            <a:spAutoFit/>
          </a:bodyPr>
          <a:lstStyle/>
          <a:p>
            <a:r>
              <a:rPr b="0" sz="1300">
                <a:solidFill>
                  <a:srgbClr val="44555F"/>
                </a:solidFill>
                <a:latin typeface="Segoe UI"/>
              </a:rPr>
              <a:t>En-têtes vérifiés : codeArticle, nomArticle, fullLocation, mois, QuantiteEntrer, QuantiteSortie</a:t>
            </a:r>
          </a:p>
        </p:txBody>
      </p:sp>
      <p:sp>
        <p:nvSpPr>
          <p:cNvPr id="22" name="Rectangle 21"/>
          <p:cNvSpPr/>
          <p:nvPr/>
        </p:nvSpPr>
        <p:spPr>
          <a:xfrm>
            <a:off x="658368" y="4197096"/>
            <a:ext cx="310896" cy="310896"/>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238244"/>
            <a:ext cx="310896" cy="256032"/>
          </a:xfrm>
          <a:prstGeom prst="rect">
            <a:avLst/>
          </a:prstGeom>
          <a:noFill/>
        </p:spPr>
        <p:txBody>
          <a:bodyPr wrap="square" lIns="0" rIns="0" tIns="0" bIns="0" anchor="t">
            <a:spAutoFit/>
          </a:bodyPr>
          <a:lstStyle/>
          <a:p>
            <a:pPr algn="ctr"/>
            <a:r>
              <a:rPr sz="1150" b="1">
                <a:solidFill>
                  <a:srgbClr val="FFFFFF"/>
                </a:solidFill>
                <a:latin typeface="Segoe UI"/>
              </a:rPr>
              <a:t>3</a:t>
            </a:r>
          </a:p>
        </p:txBody>
      </p:sp>
      <p:sp>
        <p:nvSpPr>
          <p:cNvPr id="24" name="TextBox 23"/>
          <p:cNvSpPr txBox="1"/>
          <p:nvPr/>
        </p:nvSpPr>
        <p:spPr>
          <a:xfrm>
            <a:off x="1161288" y="4229100"/>
            <a:ext cx="10372039" cy="384048"/>
          </a:xfrm>
          <a:prstGeom prst="rect">
            <a:avLst/>
          </a:prstGeom>
          <a:noFill/>
        </p:spPr>
        <p:txBody>
          <a:bodyPr wrap="square" lIns="0" rIns="0" tIns="0" bIns="0" anchor="t">
            <a:spAutoFit/>
          </a:bodyPr>
          <a:lstStyle/>
          <a:p>
            <a:r>
              <a:rPr b="0" sz="1300">
                <a:solidFill>
                  <a:srgbClr val="44555F"/>
                </a:solidFill>
                <a:latin typeface="Segoe UI"/>
              </a:rPr>
              <a:t>« art 1 » → ART-001  ·  « 01/03/2024 » → 2024-03  ·  « 12,5 » → 13  ·  négatif → 0</a:t>
            </a:r>
          </a:p>
        </p:txBody>
      </p:sp>
      <p:sp>
        <p:nvSpPr>
          <p:cNvPr id="25" name="Rectangle 24"/>
          <p:cNvSpPr/>
          <p:nvPr/>
        </p:nvSpPr>
        <p:spPr>
          <a:xfrm>
            <a:off x="658368" y="4672584"/>
            <a:ext cx="310896" cy="310896"/>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713732"/>
            <a:ext cx="310896" cy="256032"/>
          </a:xfrm>
          <a:prstGeom prst="rect">
            <a:avLst/>
          </a:prstGeom>
          <a:noFill/>
        </p:spPr>
        <p:txBody>
          <a:bodyPr wrap="square" lIns="0" rIns="0" tIns="0" bIns="0" anchor="t">
            <a:spAutoFit/>
          </a:bodyPr>
          <a:lstStyle/>
          <a:p>
            <a:pPr algn="ctr"/>
            <a:r>
              <a:rPr sz="1150" b="1">
                <a:solidFill>
                  <a:srgbClr val="FFFFFF"/>
                </a:solidFill>
                <a:latin typeface="Segoe UI"/>
              </a:rPr>
              <a:t>4</a:t>
            </a:r>
          </a:p>
        </p:txBody>
      </p:sp>
      <p:sp>
        <p:nvSpPr>
          <p:cNvPr id="27" name="TextBox 26"/>
          <p:cNvSpPr txBox="1"/>
          <p:nvPr/>
        </p:nvSpPr>
        <p:spPr>
          <a:xfrm>
            <a:off x="1161288" y="4704588"/>
            <a:ext cx="10372039" cy="384048"/>
          </a:xfrm>
          <a:prstGeom prst="rect">
            <a:avLst/>
          </a:prstGeom>
          <a:noFill/>
        </p:spPr>
        <p:txBody>
          <a:bodyPr wrap="square" lIns="0" rIns="0" tIns="0" bIns="0" anchor="t">
            <a:spAutoFit/>
          </a:bodyPr>
          <a:lstStyle/>
          <a:p>
            <a:r>
              <a:rPr b="0" sz="1300">
                <a:solidFill>
                  <a:srgbClr val="44555F"/>
                </a:solidFill>
                <a:latin typeface="Segoe UI"/>
              </a:rPr>
              <a:t>Article retrouvé, emplacement résolu depuis « Magasin &gt; Rayon &gt; Zone &gt; Case », articles manquants créés</a:t>
            </a:r>
          </a:p>
        </p:txBody>
      </p:sp>
      <p:sp>
        <p:nvSpPr>
          <p:cNvPr id="28" name="Rectangle 27"/>
          <p:cNvSpPr/>
          <p:nvPr/>
        </p:nvSpPr>
        <p:spPr>
          <a:xfrm>
            <a:off x="658368" y="5148072"/>
            <a:ext cx="310896" cy="310896"/>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189220"/>
            <a:ext cx="310896" cy="256032"/>
          </a:xfrm>
          <a:prstGeom prst="rect">
            <a:avLst/>
          </a:prstGeom>
          <a:noFill/>
        </p:spPr>
        <p:txBody>
          <a:bodyPr wrap="square" lIns="0" rIns="0" tIns="0" bIns="0" anchor="t">
            <a:spAutoFit/>
          </a:bodyPr>
          <a:lstStyle/>
          <a:p>
            <a:pPr algn="ctr"/>
            <a:r>
              <a:rPr sz="1150" b="1">
                <a:solidFill>
                  <a:srgbClr val="FFFFFF"/>
                </a:solidFill>
                <a:latin typeface="Segoe UI"/>
              </a:rPr>
              <a:t>5</a:t>
            </a:r>
          </a:p>
        </p:txBody>
      </p:sp>
      <p:sp>
        <p:nvSpPr>
          <p:cNvPr id="30" name="TextBox 29"/>
          <p:cNvSpPr txBox="1"/>
          <p:nvPr/>
        </p:nvSpPr>
        <p:spPr>
          <a:xfrm>
            <a:off x="1161288" y="5180076"/>
            <a:ext cx="10372039" cy="384048"/>
          </a:xfrm>
          <a:prstGeom prst="rect">
            <a:avLst/>
          </a:prstGeom>
          <a:noFill/>
        </p:spPr>
        <p:txBody>
          <a:bodyPr wrap="square" lIns="0" rIns="0" tIns="0" bIns="0" anchor="t">
            <a:spAutoFit/>
          </a:bodyPr>
          <a:lstStyle/>
          <a:p>
            <a:r>
              <a:rPr b="0" sz="1300">
                <a:solidFill>
                  <a:srgbClr val="44555F"/>
                </a:solidFill>
                <a:latin typeface="Segoe UI"/>
              </a:rPr>
              <a:t>Doublon identique ignoré, doublon contradictoire additionné, stock chronologique vérifié</a:t>
            </a:r>
          </a:p>
        </p:txBody>
      </p:sp>
      <p:sp>
        <p:nvSpPr>
          <p:cNvPr id="31" name="Rectangle 30"/>
          <p:cNvSpPr/>
          <p:nvPr/>
        </p:nvSpPr>
        <p:spPr>
          <a:xfrm>
            <a:off x="658368" y="5623560"/>
            <a:ext cx="310896" cy="310896"/>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664708"/>
            <a:ext cx="310896" cy="256032"/>
          </a:xfrm>
          <a:prstGeom prst="rect">
            <a:avLst/>
          </a:prstGeom>
          <a:noFill/>
        </p:spPr>
        <p:txBody>
          <a:bodyPr wrap="square" lIns="0" rIns="0" tIns="0" bIns="0" anchor="t">
            <a:spAutoFit/>
          </a:bodyPr>
          <a:lstStyle/>
          <a:p>
            <a:pPr algn="ctr"/>
            <a:r>
              <a:rPr sz="1150" b="1">
                <a:solidFill>
                  <a:srgbClr val="FFFFFF"/>
                </a:solidFill>
                <a:latin typeface="Segoe UI"/>
              </a:rPr>
              <a:t>6</a:t>
            </a:r>
          </a:p>
        </p:txBody>
      </p:sp>
      <p:sp>
        <p:nvSpPr>
          <p:cNvPr id="33" name="TextBox 32"/>
          <p:cNvSpPr txBox="1"/>
          <p:nvPr/>
        </p:nvSpPr>
        <p:spPr>
          <a:xfrm>
            <a:off x="1161288" y="5655564"/>
            <a:ext cx="10372039" cy="384048"/>
          </a:xfrm>
          <a:prstGeom prst="rect">
            <a:avLst/>
          </a:prstGeom>
          <a:noFill/>
        </p:spPr>
        <p:txBody>
          <a:bodyPr wrap="square" lIns="0" rIns="0" tIns="0" bIns="0" anchor="t">
            <a:spAutoFit/>
          </a:bodyPr>
          <a:lstStyle/>
          <a:p>
            <a:r>
              <a:rPr b="0" sz="1300">
                <a:solidFill>
                  <a:srgbClr val="44555F"/>
                </a:solidFill>
                <a:latin typeface="Segoe UI"/>
              </a:rPr>
              <a:t>Une seule transaction : soit tout passe, soit rien n'est écrit. Statuts resynchronisés ensuite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05 — IMPORT, EXPORT ET PRÉVISION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Aperçu avant écriture et garde-fous</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18</a:t>
            </a:r>
          </a:p>
        </p:txBody>
      </p:sp>
      <p:sp>
        <p:nvSpPr>
          <p:cNvPr id="7" name="TextBox 6"/>
          <p:cNvSpPr txBox="1"/>
          <p:nvPr/>
        </p:nvSpPr>
        <p:spPr>
          <a:xfrm>
            <a:off x="658368" y="1371600"/>
            <a:ext cx="5120640" cy="4206240"/>
          </a:xfrm>
          <a:prstGeom prst="rect">
            <a:avLst/>
          </a:prstGeom>
          <a:noFill/>
        </p:spPr>
        <p:txBody>
          <a:bodyPr wrap="square" lIns="0" rIns="0" tIns="0" bIns="0" anchor="t">
            <a:spAutoFit/>
          </a:bodyPr>
          <a:lstStyle/>
          <a:p>
            <a:pPr marL="237744" indent="-237744">
              <a:lnSpc>
                <a:spcPct val="106000"/>
              </a:lnSpc>
              <a:spcAft>
                <a:spcPts val="1200"/>
              </a:spcAft>
            </a:pPr>
            <a:r>
              <a:rPr sz="1400" b="1">
                <a:solidFill>
                  <a:srgbClr val="1F6187"/>
                </a:solidFill>
                <a:latin typeface="Segoe UI"/>
              </a:rPr>
              <a:t>▪  </a:t>
            </a:r>
            <a:r>
              <a:rPr b="1" sz="1400">
                <a:solidFill>
                  <a:srgbClr val="44555F"/>
                </a:solidFill>
                <a:latin typeface="Segoe UI"/>
              </a:rPr>
              <a:t>Simulation</a:t>
            </a:r>
            <a:r>
              <a:rPr b="0" sz="1400">
                <a:solidFill>
                  <a:srgbClr val="44555F"/>
                </a:solidFill>
                <a:latin typeface="Segoe UI"/>
              </a:rPr>
              <a:t> : le fichier subit exactement le même traitement, mais la transaction est annulée à la fin — le rapport est exact, la base intacte</a:t>
            </a:r>
          </a:p>
          <a:p>
            <a:pPr marL="237744" indent="-237744">
              <a:lnSpc>
                <a:spcPct val="106000"/>
              </a:lnSpc>
              <a:spcAft>
                <a:spcPts val="1200"/>
              </a:spcAft>
            </a:pPr>
            <a:r>
              <a:rPr sz="1400" b="1">
                <a:solidFill>
                  <a:srgbClr val="1F6187"/>
                </a:solidFill>
                <a:latin typeface="Segoe UI"/>
              </a:rPr>
              <a:t>▪  </a:t>
            </a:r>
            <a:r>
              <a:rPr b="0" sz="1400">
                <a:solidFill>
                  <a:srgbClr val="44555F"/>
                </a:solidFill>
                <a:latin typeface="Segoe UI"/>
              </a:rPr>
              <a:t>Chaque correction est listée : </a:t>
            </a:r>
            <a:r>
              <a:rPr b="1" sz="1400">
                <a:solidFill>
                  <a:srgbClr val="44555F"/>
                </a:solidFill>
                <a:latin typeface="Segoe UI"/>
              </a:rPr>
              <a:t>ligne, champ, valeur d'origine, valeur retenue, raison</a:t>
            </a:r>
          </a:p>
          <a:p>
            <a:pPr marL="237744" indent="-237744">
              <a:lnSpc>
                <a:spcPct val="106000"/>
              </a:lnSpc>
              <a:spcAft>
                <a:spcPts val="1200"/>
              </a:spcAft>
            </a:pPr>
            <a:r>
              <a:rPr sz="1400" b="1">
                <a:solidFill>
                  <a:srgbClr val="1F6187"/>
                </a:solidFill>
                <a:latin typeface="Segoe UI"/>
              </a:rPr>
              <a:t>▪  </a:t>
            </a:r>
            <a:r>
              <a:rPr b="0" sz="1400">
                <a:solidFill>
                  <a:srgbClr val="44555F"/>
                </a:solidFill>
                <a:latin typeface="Segoe UI"/>
              </a:rPr>
              <a:t>Bilan chiffré : lignes lues, invalides, doublons fusionnés, déjà présentes, réellement insérées, dépassements de capacité</a:t>
            </a:r>
          </a:p>
          <a:p>
            <a:pPr marL="237744" indent="-237744">
              <a:lnSpc>
                <a:spcPct val="106000"/>
              </a:lnSpc>
              <a:spcAft>
                <a:spcPts val="1200"/>
              </a:spcAft>
            </a:pPr>
            <a:r>
              <a:rPr sz="1400" b="1">
                <a:solidFill>
                  <a:srgbClr val="1F6187"/>
                </a:solidFill>
                <a:latin typeface="Segoe UI"/>
              </a:rPr>
              <a:t>▪  </a:t>
            </a:r>
            <a:r>
              <a:rPr b="0" sz="1400">
                <a:solidFill>
                  <a:srgbClr val="44555F"/>
                </a:solidFill>
                <a:latin typeface="Segoe UI"/>
              </a:rPr>
              <a:t>Deux modes destructifs — </a:t>
            </a:r>
            <a:r>
              <a:rPr b="1" sz="1400">
                <a:solidFill>
                  <a:srgbClr val="44555F"/>
                </a:solidFill>
                <a:latin typeface="Segoe UI"/>
              </a:rPr>
              <a:t>Remplacer</a:t>
            </a:r>
            <a:r>
              <a:rPr b="0" sz="1400">
                <a:solidFill>
                  <a:srgbClr val="44555F"/>
                </a:solidFill>
                <a:latin typeface="Segoe UI"/>
              </a:rPr>
              <a:t> et </a:t>
            </a:r>
            <a:r>
              <a:rPr b="1" sz="1400">
                <a:solidFill>
                  <a:srgbClr val="44555F"/>
                </a:solidFill>
                <a:latin typeface="Segoe UI"/>
              </a:rPr>
              <a:t>Vider</a:t>
            </a:r>
            <a:r>
              <a:rPr b="0" sz="1400">
                <a:solidFill>
                  <a:srgbClr val="44555F"/>
                </a:solidFill>
                <a:latin typeface="Segoe UI"/>
              </a:rPr>
              <a:t> — protégés par la saisie du mot complet</a:t>
            </a:r>
          </a:p>
          <a:p>
            <a:pPr marL="237744" indent="-237744">
              <a:lnSpc>
                <a:spcPct val="106000"/>
              </a:lnSpc>
              <a:spcAft>
                <a:spcPts val="0"/>
              </a:spcAft>
            </a:pPr>
            <a:r>
              <a:rPr sz="1400" b="1">
                <a:solidFill>
                  <a:srgbClr val="1F6187"/>
                </a:solidFill>
                <a:latin typeface="Segoe UI"/>
              </a:rPr>
              <a:t>▪  </a:t>
            </a:r>
            <a:r>
              <a:rPr b="0" sz="1400">
                <a:solidFill>
                  <a:srgbClr val="44555F"/>
                </a:solidFill>
                <a:latin typeface="Segoe UI"/>
              </a:rPr>
              <a:t>Un remplacement sans aucune ligne exploitable est </a:t>
            </a:r>
            <a:r>
              <a:rPr b="1" sz="1400">
                <a:solidFill>
                  <a:srgbClr val="44555F"/>
                </a:solidFill>
                <a:latin typeface="Segoe UI"/>
              </a:rPr>
              <a:t>annulé</a:t>
            </a:r>
            <a:r>
              <a:rPr b="0" sz="1400">
                <a:solidFill>
                  <a:srgbClr val="44555F"/>
                </a:solidFill>
                <a:latin typeface="Segoe UI"/>
              </a:rPr>
              <a:t> : les données existantes sont préservées</a:t>
            </a:r>
          </a:p>
        </p:txBody>
      </p:sp>
      <p:sp>
        <p:nvSpPr>
          <p:cNvPr id="8" name="Rectangle 7"/>
          <p:cNvSpPr/>
          <p:nvPr/>
        </p:nvSpPr>
        <p:spPr>
          <a:xfrm>
            <a:off x="6035040" y="1371600"/>
            <a:ext cx="5486400" cy="3017520"/>
          </a:xfrm>
          <a:prstGeom prst="rect">
            <a:avLst/>
          </a:prstGeom>
          <a:solidFill>
            <a:srgbClr val="F2F5F6"/>
          </a:solidFill>
          <a:ln w="15875">
            <a:solidFill>
              <a:srgbClr val="1F618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6187"/>
                </a:solidFill>
                <a:latin typeface="Segoe UI"/>
              </a:rPr>
              <a:t>Capture à insérer
Rapport d'aperçu avec la liste des corrections
(déposer un CSV volontairement « sale », puis capturer la simulation)</a:t>
            </a:r>
          </a:p>
        </p:txBody>
      </p:sp>
      <p:sp>
        <p:nvSpPr>
          <p:cNvPr id="9" name="Rectangle 8"/>
          <p:cNvSpPr/>
          <p:nvPr/>
        </p:nvSpPr>
        <p:spPr>
          <a:xfrm>
            <a:off x="6035040" y="4572000"/>
            <a:ext cx="5486400" cy="1325880"/>
          </a:xfrm>
          <a:prstGeom prst="rect">
            <a:avLst/>
          </a:prstGeom>
          <a:solidFill>
            <a:srgbClr val="F2F5F6"/>
          </a:solidFill>
          <a:ln w="15875">
            <a:solidFill>
              <a:srgbClr val="1F618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6187"/>
                </a:solidFill>
                <a:latin typeface="Segoe UI"/>
              </a:rPr>
              <a:t>Capture à insérer  ·  Modale « Tapez REMPLACER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05 — IMPORT, EXPORT ET PRÉVISION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Export réimportable : le circuit complet</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19</a:t>
            </a:r>
          </a:p>
        </p:txBody>
      </p:sp>
      <p:sp>
        <p:nvSpPr>
          <p:cNvPr id="7" name="Rounded Rectangle 6"/>
          <p:cNvSpPr/>
          <p:nvPr/>
        </p:nvSpPr>
        <p:spPr>
          <a:xfrm>
            <a:off x="143103" y="1691640"/>
            <a:ext cx="2103120" cy="1371600"/>
          </a:xfrm>
          <a:prstGeom prst="round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0263" y="1965960"/>
            <a:ext cx="1828800" cy="914400"/>
          </a:xfrm>
          <a:prstGeom prst="rect">
            <a:avLst/>
          </a:prstGeom>
          <a:noFill/>
        </p:spPr>
        <p:txBody>
          <a:bodyPr wrap="square" lIns="0" rIns="0" tIns="0" bIns="0" anchor="t">
            <a:spAutoFit/>
          </a:bodyPr>
          <a:lstStyle/>
          <a:p>
            <a:pPr algn="ctr"/>
            <a:r>
              <a:rPr sz="1400" b="1">
                <a:solidFill>
                  <a:srgbClr val="12181D"/>
                </a:solidFill>
                <a:latin typeface="Segoe UI Semibold"/>
              </a:rPr>
              <a:t>SQL Server</a:t>
            </a:r>
          </a:p>
          <a:p>
            <a:pPr algn="ctr">
              <a:spcBef>
                <a:spcPts val="500"/>
              </a:spcBef>
            </a:pPr>
            <a:r>
              <a:rPr sz="1100">
                <a:solidFill>
                  <a:srgbClr val="44555F"/>
                </a:solidFill>
                <a:latin typeface="Segoe UI"/>
              </a:rPr>
              <a:t>les mouvements</a:t>
            </a:r>
          </a:p>
        </p:txBody>
      </p:sp>
      <p:sp>
        <p:nvSpPr>
          <p:cNvPr id="9" name="Right Arrow 8"/>
          <p:cNvSpPr/>
          <p:nvPr/>
        </p:nvSpPr>
        <p:spPr>
          <a:xfrm>
            <a:off x="2310231" y="2258568"/>
            <a:ext cx="219456" cy="237744"/>
          </a:xfrm>
          <a:prstGeom prst="rightArrow">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93695" y="1691640"/>
            <a:ext cx="2103120" cy="1371600"/>
          </a:xfrm>
          <a:prstGeom prst="round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30855" y="1965960"/>
            <a:ext cx="1828800" cy="914400"/>
          </a:xfrm>
          <a:prstGeom prst="rect">
            <a:avLst/>
          </a:prstGeom>
          <a:noFill/>
        </p:spPr>
        <p:txBody>
          <a:bodyPr wrap="square" lIns="0" rIns="0" tIns="0" bIns="0" anchor="t">
            <a:spAutoFit/>
          </a:bodyPr>
          <a:lstStyle/>
          <a:p>
            <a:pPr algn="ctr"/>
            <a:r>
              <a:rPr sz="1400" b="1">
                <a:solidFill>
                  <a:srgbClr val="12181D"/>
                </a:solidFill>
                <a:latin typeface="Segoe UI Semibold"/>
              </a:rPr>
              <a:t>Export CSV / XLSX</a:t>
            </a:r>
          </a:p>
          <a:p>
            <a:pPr algn="ctr">
              <a:spcBef>
                <a:spcPts val="500"/>
              </a:spcBef>
            </a:pPr>
            <a:r>
              <a:rPr sz="1100">
                <a:solidFill>
                  <a:srgbClr val="44555F"/>
                </a:solidFill>
                <a:latin typeface="Segoe UI"/>
              </a:rPr>
              <a:t>6 colonnes exactes</a:t>
            </a:r>
          </a:p>
        </p:txBody>
      </p:sp>
      <p:sp>
        <p:nvSpPr>
          <p:cNvPr id="12" name="Right Arrow 11"/>
          <p:cNvSpPr/>
          <p:nvPr/>
        </p:nvSpPr>
        <p:spPr>
          <a:xfrm>
            <a:off x="4760823" y="2258568"/>
            <a:ext cx="219456" cy="237744"/>
          </a:xfrm>
          <a:prstGeom prst="rightArrow">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44287" y="1691640"/>
            <a:ext cx="2103120" cy="1371600"/>
          </a:xfrm>
          <a:prstGeom prst="round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81447" y="1965960"/>
            <a:ext cx="1828800" cy="914400"/>
          </a:xfrm>
          <a:prstGeom prst="rect">
            <a:avLst/>
          </a:prstGeom>
          <a:noFill/>
        </p:spPr>
        <p:txBody>
          <a:bodyPr wrap="square" lIns="0" rIns="0" tIns="0" bIns="0" anchor="t">
            <a:spAutoFit/>
          </a:bodyPr>
          <a:lstStyle/>
          <a:p>
            <a:pPr algn="ctr"/>
            <a:r>
              <a:rPr sz="1400" b="1">
                <a:solidFill>
                  <a:srgbClr val="12181D"/>
                </a:solidFill>
                <a:latin typeface="Segoe UI Semibold"/>
              </a:rPr>
              <a:t>Excel</a:t>
            </a:r>
          </a:p>
          <a:p>
            <a:pPr algn="ctr">
              <a:spcBef>
                <a:spcPts val="500"/>
              </a:spcBef>
            </a:pPr>
            <a:r>
              <a:rPr sz="1100">
                <a:solidFill>
                  <a:srgbClr val="44555F"/>
                </a:solidFill>
                <a:latin typeface="Segoe UI"/>
              </a:rPr>
              <a:t>l'utilisateur corrige</a:t>
            </a:r>
          </a:p>
        </p:txBody>
      </p:sp>
      <p:sp>
        <p:nvSpPr>
          <p:cNvPr id="15" name="Right Arrow 14"/>
          <p:cNvSpPr/>
          <p:nvPr/>
        </p:nvSpPr>
        <p:spPr>
          <a:xfrm>
            <a:off x="7211415" y="2258568"/>
            <a:ext cx="219456" cy="237744"/>
          </a:xfrm>
          <a:prstGeom prst="rightArrow">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94879" y="1691640"/>
            <a:ext cx="2103120" cy="1371600"/>
          </a:xfrm>
          <a:prstGeom prst="round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2039" y="1965960"/>
            <a:ext cx="1828800" cy="914400"/>
          </a:xfrm>
          <a:prstGeom prst="rect">
            <a:avLst/>
          </a:prstGeom>
          <a:noFill/>
        </p:spPr>
        <p:txBody>
          <a:bodyPr wrap="square" lIns="0" rIns="0" tIns="0" bIns="0" anchor="t">
            <a:spAutoFit/>
          </a:bodyPr>
          <a:lstStyle/>
          <a:p>
            <a:pPr algn="ctr"/>
            <a:r>
              <a:rPr sz="1400" b="1">
                <a:solidFill>
                  <a:srgbClr val="12181D"/>
                </a:solidFill>
                <a:latin typeface="Segoe UI Semibold"/>
              </a:rPr>
              <a:t>Dépôt du fichier</a:t>
            </a:r>
          </a:p>
          <a:p>
            <a:pPr algn="ctr">
              <a:spcBef>
                <a:spcPts val="500"/>
              </a:spcBef>
            </a:pPr>
            <a:r>
              <a:rPr sz="1100">
                <a:solidFill>
                  <a:srgbClr val="44555F"/>
                </a:solidFill>
                <a:latin typeface="Segoe UI"/>
              </a:rPr>
              <a:t>xlsx converti en CSV</a:t>
            </a:r>
          </a:p>
        </p:txBody>
      </p:sp>
      <p:sp>
        <p:nvSpPr>
          <p:cNvPr id="18" name="Right Arrow 17"/>
          <p:cNvSpPr/>
          <p:nvPr/>
        </p:nvSpPr>
        <p:spPr>
          <a:xfrm>
            <a:off x="9662007" y="2258568"/>
            <a:ext cx="219456" cy="237744"/>
          </a:xfrm>
          <a:prstGeom prst="rightArrow">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945471" y="1691640"/>
            <a:ext cx="2103120" cy="1371600"/>
          </a:xfrm>
          <a:prstGeom prst="round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82631" y="1965960"/>
            <a:ext cx="1828800" cy="914400"/>
          </a:xfrm>
          <a:prstGeom prst="rect">
            <a:avLst/>
          </a:prstGeom>
          <a:noFill/>
        </p:spPr>
        <p:txBody>
          <a:bodyPr wrap="square" lIns="0" rIns="0" tIns="0" bIns="0" anchor="t">
            <a:spAutoFit/>
          </a:bodyPr>
          <a:lstStyle/>
          <a:p>
            <a:pPr algn="ctr"/>
            <a:r>
              <a:rPr sz="1400" b="1">
                <a:solidFill>
                  <a:srgbClr val="12181D"/>
                </a:solidFill>
                <a:latin typeface="Segoe UI Semibold"/>
              </a:rPr>
              <a:t>Import contrôlé</a:t>
            </a:r>
          </a:p>
          <a:p>
            <a:pPr algn="ctr">
              <a:spcBef>
                <a:spcPts val="500"/>
              </a:spcBef>
            </a:pPr>
            <a:r>
              <a:rPr sz="1100">
                <a:solidFill>
                  <a:srgbClr val="44555F"/>
                </a:solidFill>
                <a:latin typeface="Segoe UI"/>
              </a:rPr>
              <a:t>aperçu puis écriture</a:t>
            </a:r>
          </a:p>
        </p:txBody>
      </p:sp>
      <p:sp>
        <p:nvSpPr>
          <p:cNvPr id="21" name="TextBox 20"/>
          <p:cNvSpPr txBox="1"/>
          <p:nvPr/>
        </p:nvSpPr>
        <p:spPr>
          <a:xfrm>
            <a:off x="658368" y="3520440"/>
            <a:ext cx="10874959" cy="2194560"/>
          </a:xfrm>
          <a:prstGeom prst="rect">
            <a:avLst/>
          </a:prstGeom>
          <a:noFill/>
        </p:spPr>
        <p:txBody>
          <a:bodyPr wrap="square" lIns="0" rIns="0" tIns="0" bIns="0" anchor="t">
            <a:spAutoFit/>
          </a:bodyPr>
          <a:lstStyle/>
          <a:p>
            <a:pPr marL="237744" indent="-237744">
              <a:lnSpc>
                <a:spcPct val="106000"/>
              </a:lnSpc>
              <a:spcAft>
                <a:spcPts val="1300"/>
              </a:spcAft>
            </a:pPr>
            <a:r>
              <a:rPr sz="1450" b="1">
                <a:solidFill>
                  <a:srgbClr val="1F6187"/>
                </a:solidFill>
                <a:latin typeface="Segoe UI"/>
              </a:rPr>
              <a:t>▪  </a:t>
            </a:r>
            <a:r>
              <a:rPr b="0" sz="1450">
                <a:solidFill>
                  <a:srgbClr val="44555F"/>
                </a:solidFill>
                <a:latin typeface="Segoe UI"/>
              </a:rPr>
              <a:t>Le fichier exporté contient </a:t>
            </a:r>
            <a:r>
              <a:rPr b="1" sz="1450">
                <a:solidFill>
                  <a:srgbClr val="44555F"/>
                </a:solidFill>
                <a:latin typeface="Segoe UI"/>
              </a:rPr>
              <a:t>exactement les six colonnes de l'import</a:t>
            </a:r>
            <a:r>
              <a:rPr b="0" sz="1450">
                <a:solidFill>
                  <a:srgbClr val="44555F"/>
                </a:solidFill>
                <a:latin typeface="Segoe UI"/>
              </a:rPr>
              <a:t> : ce qui sort peut être modifié dans Excel et réimporté directement</a:t>
            </a:r>
          </a:p>
          <a:p>
            <a:pPr marL="237744" indent="-237744">
              <a:lnSpc>
                <a:spcPct val="106000"/>
              </a:lnSpc>
              <a:spcAft>
                <a:spcPts val="1300"/>
              </a:spcAft>
            </a:pPr>
            <a:r>
              <a:rPr sz="1450" b="1">
                <a:solidFill>
                  <a:srgbClr val="1F6187"/>
                </a:solidFill>
                <a:latin typeface="Segoe UI"/>
              </a:rPr>
              <a:t>▪  </a:t>
            </a:r>
            <a:r>
              <a:rPr b="0" sz="1450">
                <a:solidFill>
                  <a:srgbClr val="44555F"/>
                </a:solidFill>
                <a:latin typeface="Segoe UI"/>
              </a:rPr>
              <a:t>CSV : marque </a:t>
            </a:r>
            <a:r>
              <a:rPr b="1" sz="1450">
                <a:solidFill>
                  <a:srgbClr val="44555F"/>
                </a:solidFill>
                <a:latin typeface="Segoe UI"/>
              </a:rPr>
              <a:t>UTF-8</a:t>
            </a:r>
            <a:r>
              <a:rPr b="0" sz="1450">
                <a:solidFill>
                  <a:srgbClr val="44555F"/>
                </a:solidFill>
                <a:latin typeface="Segoe UI"/>
              </a:rPr>
              <a:t> en tête de fichier, sinon Excel affiche mal les accents ; virgule comme séparateur</a:t>
            </a:r>
          </a:p>
          <a:p>
            <a:pPr marL="237744" indent="-237744">
              <a:lnSpc>
                <a:spcPct val="106000"/>
              </a:lnSpc>
              <a:spcAft>
                <a:spcPts val="1300"/>
              </a:spcAft>
            </a:pPr>
            <a:r>
              <a:rPr sz="1450" b="1">
                <a:solidFill>
                  <a:srgbClr val="1F6187"/>
                </a:solidFill>
                <a:latin typeface="Segoe UI"/>
              </a:rPr>
              <a:t>▪  </a:t>
            </a:r>
            <a:r>
              <a:rPr b="0" sz="1450">
                <a:solidFill>
                  <a:srgbClr val="44555F"/>
                </a:solidFill>
                <a:latin typeface="Segoe UI"/>
              </a:rPr>
              <a:t>XLSX : colonne « mois » </a:t>
            </a:r>
            <a:r>
              <a:rPr b="1" sz="1450">
                <a:solidFill>
                  <a:srgbClr val="44555F"/>
                </a:solidFill>
                <a:latin typeface="Segoe UI"/>
              </a:rPr>
              <a:t>forcée en texte</a:t>
            </a:r>
            <a:r>
              <a:rPr b="0" sz="1450">
                <a:solidFill>
                  <a:srgbClr val="44555F"/>
                </a:solidFill>
                <a:latin typeface="Segoe UI"/>
              </a:rPr>
              <a:t>, sinon Excel la convertit en date et l'import ne la reconnaît plus</a:t>
            </a:r>
          </a:p>
          <a:p>
            <a:pPr marL="237744" indent="-237744">
              <a:lnSpc>
                <a:spcPct val="106000"/>
              </a:lnSpc>
              <a:spcAft>
                <a:spcPts val="1300"/>
              </a:spcAft>
            </a:pPr>
            <a:r>
              <a:rPr sz="1450" b="1">
                <a:solidFill>
                  <a:srgbClr val="1F6187"/>
                </a:solidFill>
                <a:latin typeface="Segoe UI"/>
              </a:rPr>
              <a:t>▪  </a:t>
            </a:r>
            <a:r>
              <a:rPr b="0" sz="1450">
                <a:solidFill>
                  <a:srgbClr val="44555F"/>
                </a:solidFill>
                <a:latin typeface="Segoe UI"/>
              </a:rPr>
              <a:t>Un </a:t>
            </a:r>
            <a:r>
              <a:rPr sz="1450">
                <a:solidFill>
                  <a:srgbClr val="44555F"/>
                </a:solidFill>
                <a:latin typeface="Consolas"/>
              </a:rPr>
              <a:t>.xlsx</a:t>
            </a:r>
            <a:r>
              <a:rPr b="0" sz="1450">
                <a:solidFill>
                  <a:srgbClr val="44555F"/>
                </a:solidFill>
                <a:latin typeface="Segoe UI"/>
              </a:rPr>
              <a:t> déposé est converti en CSV </a:t>
            </a:r>
            <a:r>
              <a:rPr b="1" sz="1450">
                <a:solidFill>
                  <a:srgbClr val="44555F"/>
                </a:solidFill>
                <a:latin typeface="Segoe UI"/>
              </a:rPr>
              <a:t>dans le navigateur</a:t>
            </a:r>
            <a:r>
              <a:rPr b="0" sz="1450">
                <a:solidFill>
                  <a:srgbClr val="44555F"/>
                </a:solidFill>
                <a:latin typeface="Segoe UI"/>
              </a:rPr>
              <a:t> : l'API n'accepte que le </a:t>
            </a:r>
            <a:r>
              <a:rPr sz="1450">
                <a:solidFill>
                  <a:srgbClr val="44555F"/>
                </a:solidFill>
                <a:latin typeface="Consolas"/>
              </a:rPr>
              <a:t>.csv</a:t>
            </a:r>
          </a:p>
          <a:p>
            <a:pPr marL="237744" indent="-237744">
              <a:lnSpc>
                <a:spcPct val="106000"/>
              </a:lnSpc>
              <a:spcAft>
                <a:spcPts val="0"/>
              </a:spcAft>
            </a:pPr>
            <a:r>
              <a:rPr sz="1450" b="1">
                <a:solidFill>
                  <a:srgbClr val="1F6187"/>
                </a:solidFill>
                <a:latin typeface="Segoe UI"/>
              </a:rPr>
              <a:t>▪  </a:t>
            </a:r>
            <a:r>
              <a:rPr b="0" sz="1450">
                <a:solidFill>
                  <a:srgbClr val="44555F"/>
                </a:solidFill>
                <a:latin typeface="Segoe UI"/>
              </a:rPr>
              <a:t>Les lignes sans emplacement résolvable sont écartées </a:t>
            </a:r>
            <a:r>
              <a:rPr b="1" sz="1450">
                <a:solidFill>
                  <a:srgbClr val="44555F"/>
                </a:solidFill>
                <a:latin typeface="Segoe UI"/>
              </a:rPr>
              <a:t>et comptées</a:t>
            </a:r>
            <a:r>
              <a:rPr b="0" sz="1450">
                <a:solidFill>
                  <a:srgbClr val="44555F"/>
                </a:solidFill>
                <a:latin typeface="Segoe UI"/>
              </a:rPr>
              <a:t>, au lieu d'échouer à l'import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05 — IMPORT, EXPORT ET PRÉVISION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Méthode de prévision et justification du choix</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20</a:t>
            </a:r>
          </a:p>
        </p:txBody>
      </p:sp>
      <p:sp>
        <p:nvSpPr>
          <p:cNvPr id="7" name="TextBox 6"/>
          <p:cNvSpPr txBox="1"/>
          <p:nvPr/>
        </p:nvSpPr>
        <p:spPr>
          <a:xfrm>
            <a:off x="658368" y="1353312"/>
            <a:ext cx="10874959" cy="365760"/>
          </a:xfrm>
          <a:prstGeom prst="rect">
            <a:avLst/>
          </a:prstGeom>
          <a:noFill/>
        </p:spPr>
        <p:txBody>
          <a:bodyPr wrap="square" lIns="0" rIns="0" tIns="0" bIns="0" anchor="t">
            <a:spAutoFit/>
          </a:bodyPr>
          <a:lstStyle/>
          <a:p>
            <a:r>
              <a:rPr sz="1700" b="1">
                <a:solidFill>
                  <a:srgbClr val="1F6187"/>
                </a:solidFill>
                <a:latin typeface="Segoe UI Semibold"/>
              </a:rPr>
              <a:t>Profil mensuel moyen ajusté par une tendance annuelle</a:t>
            </a:r>
          </a:p>
        </p:txBody>
      </p:sp>
      <p:sp>
        <p:nvSpPr>
          <p:cNvPr id="8" name="Chevron 7"/>
          <p:cNvSpPr/>
          <p:nvPr/>
        </p:nvSpPr>
        <p:spPr>
          <a:xfrm>
            <a:off x="658368" y="1828800"/>
            <a:ext cx="2677591" cy="1051560"/>
          </a:xfrm>
          <a:prstGeom prst="chevron">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12181D"/>
                </a:solidFill>
                <a:latin typeface="Segoe UI"/>
              </a:rPr>
              <a:t>1. Profil mensuel</a:t>
            </a:r>
          </a:p>
          <a:p>
            <a:pPr algn="ctr"/>
            <a:r>
              <a:rPr sz="900">
                <a:solidFill>
                  <a:srgbClr val="44555F"/>
                </a:solidFill>
                <a:latin typeface="Segoe UI"/>
              </a:rPr>
              <a:t>moyenne de chaque mois
sur les années disponibles</a:t>
            </a:r>
          </a:p>
        </p:txBody>
      </p:sp>
      <p:sp>
        <p:nvSpPr>
          <p:cNvPr id="9" name="Chevron 8"/>
          <p:cNvSpPr/>
          <p:nvPr/>
        </p:nvSpPr>
        <p:spPr>
          <a:xfrm>
            <a:off x="3390823" y="1828800"/>
            <a:ext cx="2677591" cy="1051560"/>
          </a:xfrm>
          <a:prstGeom prst="chevron">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12181D"/>
                </a:solidFill>
                <a:latin typeface="Segoe UI"/>
              </a:rPr>
              <a:t>2. Totaux annuels</a:t>
            </a:r>
          </a:p>
          <a:p>
            <a:pPr algn="ctr"/>
            <a:r>
              <a:rPr sz="900">
                <a:solidFill>
                  <a:srgbClr val="44555F"/>
                </a:solidFill>
                <a:latin typeface="Segoe UI"/>
              </a:rPr>
              <a:t>un total par année</a:t>
            </a:r>
          </a:p>
        </p:txBody>
      </p:sp>
      <p:sp>
        <p:nvSpPr>
          <p:cNvPr id="10" name="Chevron 9"/>
          <p:cNvSpPr/>
          <p:nvPr/>
        </p:nvSpPr>
        <p:spPr>
          <a:xfrm>
            <a:off x="6123278" y="1828800"/>
            <a:ext cx="2677591" cy="1051560"/>
          </a:xfrm>
          <a:prstGeom prst="chevron">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12181D"/>
                </a:solidFill>
                <a:latin typeface="Segoe UI"/>
              </a:rPr>
              <a:t>3. Tendance</a:t>
            </a:r>
          </a:p>
          <a:p>
            <a:pPr algn="ctr"/>
            <a:r>
              <a:rPr sz="900">
                <a:solidFill>
                  <a:srgbClr val="44555F"/>
                </a:solidFill>
                <a:latin typeface="Segoe UI"/>
              </a:rPr>
              <a:t>régression linéaire
(moindres carrés) → pente</a:t>
            </a:r>
          </a:p>
        </p:txBody>
      </p:sp>
      <p:sp>
        <p:nvSpPr>
          <p:cNvPr id="11" name="Chevron 10"/>
          <p:cNvSpPr/>
          <p:nvPr/>
        </p:nvSpPr>
        <p:spPr>
          <a:xfrm>
            <a:off x="8855733" y="1828800"/>
            <a:ext cx="2677591" cy="1051560"/>
          </a:xfrm>
          <a:prstGeom prst="chevron">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12181D"/>
                </a:solidFill>
                <a:latin typeface="Segoe UI"/>
              </a:rPr>
              <a:t>4. Mise à l'échelle</a:t>
            </a:r>
          </a:p>
          <a:p>
            <a:pPr algn="ctr"/>
            <a:r>
              <a:rPr sz="900">
                <a:solidFill>
                  <a:srgbClr val="44555F"/>
                </a:solidFill>
                <a:latin typeface="Segoe UI"/>
              </a:rPr>
              <a:t>cible = dernier total + pente
arrondi, négatifs → 0</a:t>
            </a:r>
          </a:p>
        </p:txBody>
      </p:sp>
      <p:sp>
        <p:nvSpPr>
          <p:cNvPr id="12" name="Rectangle 11"/>
          <p:cNvSpPr/>
          <p:nvPr/>
        </p:nvSpPr>
        <p:spPr>
          <a:xfrm>
            <a:off x="658368" y="3246120"/>
            <a:ext cx="5532120" cy="2057400"/>
          </a:xfrm>
          <a:prstGeom prst="rect">
            <a:avLst/>
          </a:prstGeom>
          <a:solidFill>
            <a:srgbClr val="DFEFE5"/>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429000"/>
            <a:ext cx="5056632" cy="1728216"/>
          </a:xfrm>
          <a:prstGeom prst="rect">
            <a:avLst/>
          </a:prstGeom>
          <a:noFill/>
        </p:spPr>
        <p:txBody>
          <a:bodyPr wrap="square" lIns="0" rIns="0" tIns="0" bIns="0" anchor="t">
            <a:spAutoFit/>
          </a:bodyPr>
          <a:lstStyle/>
          <a:p>
            <a:pPr>
              <a:spcAft>
                <a:spcPts val="900"/>
              </a:spcAft>
            </a:pPr>
            <a:r>
              <a:rPr sz="1050" b="1">
                <a:solidFill>
                  <a:srgbClr val="286B48"/>
                </a:solidFill>
                <a:latin typeface="Segoe UI"/>
              </a:rPr>
              <a:t>POURQUOI CETTE MÉTHODE</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Explicable à un opérateur en une phrase, résultat reproductible</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Aucune bibliothèque externe : json, sys, collections uniquement</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Aucun modèle entraîné ni stocké, rien à déployer</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Adaptée à un historique mensuel court</a:t>
            </a:r>
          </a:p>
        </p:txBody>
      </p:sp>
      <p:sp>
        <p:nvSpPr>
          <p:cNvPr id="14" name="Rectangle 13"/>
          <p:cNvSpPr/>
          <p:nvPr/>
        </p:nvSpPr>
        <p:spPr>
          <a:xfrm>
            <a:off x="6601968" y="3246120"/>
            <a:ext cx="5532120" cy="2057400"/>
          </a:xfrm>
          <a:prstGeom prst="rect">
            <a:avLst/>
          </a:prstGeom>
          <a:solidFill>
            <a:srgbClr val="F7EBD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9712" y="3429000"/>
            <a:ext cx="5056632" cy="1728216"/>
          </a:xfrm>
          <a:prstGeom prst="rect">
            <a:avLst/>
          </a:prstGeom>
          <a:noFill/>
        </p:spPr>
        <p:txBody>
          <a:bodyPr wrap="square" lIns="0" rIns="0" tIns="0" bIns="0" anchor="t">
            <a:spAutoFit/>
          </a:bodyPr>
          <a:lstStyle/>
          <a:p>
            <a:pPr>
              <a:spcAft>
                <a:spcPts val="900"/>
              </a:spcAft>
            </a:pPr>
            <a:r>
              <a:rPr sz="1050" b="1">
                <a:solidFill>
                  <a:srgbClr val="96590A"/>
                </a:solidFill>
                <a:latin typeface="Segoe UI"/>
              </a:rPr>
              <a:t>LIMITES ASSUMÉES — CE N'EST PAS DU MACHINE LEARNING</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Aucun intervalle de confiance, aucune erreur mesurée (MAE, RMSE)</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Avec une seule année d'historique, pas de tendance possible</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Un mois manquant ou une valeur extrême déforme le profil</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Aucune variable externe : commandes clients, plan de production</a:t>
            </a:r>
          </a:p>
        </p:txBody>
      </p:sp>
      <p:sp>
        <p:nvSpPr>
          <p:cNvPr id="16" name="TextBox 15"/>
          <p:cNvSpPr txBox="1"/>
          <p:nvPr/>
        </p:nvSpPr>
        <p:spPr>
          <a:xfrm>
            <a:off x="658368" y="5532120"/>
            <a:ext cx="10874959" cy="457200"/>
          </a:xfrm>
          <a:prstGeom prst="rect">
            <a:avLst/>
          </a:prstGeom>
          <a:noFill/>
        </p:spPr>
        <p:txBody>
          <a:bodyPr wrap="square" lIns="0" rIns="0" tIns="0" bIns="0" anchor="t">
            <a:spAutoFit/>
          </a:bodyPr>
          <a:lstStyle/>
          <a:p>
            <a:pPr>
              <a:lnSpc>
                <a:spcPct val="100000"/>
              </a:lnSpc>
              <a:spcAft>
                <a:spcPts val="0"/>
              </a:spcAft>
            </a:pPr>
            <a:r>
              <a:rPr b="0" sz="1350">
                <a:solidFill>
                  <a:srgbClr val="6C7C86"/>
                </a:solidFill>
                <a:latin typeface="Segoe UI"/>
              </a:rPr>
              <a:t>Le calcul est fait </a:t>
            </a:r>
            <a:r>
              <a:rPr b="1" sz="1350">
                <a:solidFill>
                  <a:srgbClr val="6C7C86"/>
                </a:solidFill>
                <a:latin typeface="Segoe UI"/>
              </a:rPr>
              <a:t>deux fois</a:t>
            </a:r>
            <a:r>
              <a:rPr b="0" sz="1350">
                <a:solidFill>
                  <a:srgbClr val="6C7C86"/>
                </a:solidFill>
                <a:latin typeface="Segoe UI"/>
              </a:rPr>
              <a:t> : une fois pour les quantités entrées, une fois pour les quantités sorties.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05 — IMPORT, EXPORT ET PRÉVISION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Prévision : du clic au graphique</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21</a:t>
            </a:r>
          </a:p>
        </p:txBody>
      </p:sp>
      <p:pic>
        <p:nvPicPr>
          <p:cNvPr id="7" name="Picture 6" descr="seq_forecast.png"/>
          <p:cNvPicPr>
            <a:picLocks noChangeAspect="1"/>
          </p:cNvPicPr>
          <p:nvPr/>
        </p:nvPicPr>
        <p:blipFill>
          <a:blip r:embed="rId2"/>
          <a:stretch>
            <a:fillRect/>
          </a:stretch>
        </p:blipFill>
        <p:spPr>
          <a:xfrm>
            <a:off x="1123005" y="1371600"/>
            <a:ext cx="5014325" cy="3200400"/>
          </a:xfrm>
          <a:prstGeom prst="rect">
            <a:avLst/>
          </a:prstGeom>
          <a:ln w="9525">
            <a:solidFill>
              <a:srgbClr val="D2DBDF"/>
            </a:solidFill>
          </a:ln>
        </p:spPr>
      </p:pic>
      <p:pic>
        <p:nvPicPr>
          <p:cNvPr id="8" name="Picture 7" descr="prevision.png"/>
          <p:cNvPicPr>
            <a:picLocks noChangeAspect="1"/>
          </p:cNvPicPr>
          <p:nvPr/>
        </p:nvPicPr>
        <p:blipFill>
          <a:blip r:embed="rId3"/>
          <a:stretch>
            <a:fillRect/>
          </a:stretch>
        </p:blipFill>
        <p:spPr>
          <a:xfrm>
            <a:off x="6675120" y="1795525"/>
            <a:ext cx="4846320" cy="2352549"/>
          </a:xfrm>
          <a:prstGeom prst="rect">
            <a:avLst/>
          </a:prstGeom>
          <a:ln w="9525">
            <a:solidFill>
              <a:srgbClr val="D2DBDF"/>
            </a:solidFill>
          </a:ln>
        </p:spPr>
      </p:pic>
      <p:sp>
        <p:nvSpPr>
          <p:cNvPr id="9" name="TextBox 8"/>
          <p:cNvSpPr txBox="1"/>
          <p:nvPr/>
        </p:nvSpPr>
        <p:spPr>
          <a:xfrm>
            <a:off x="658368" y="4846320"/>
            <a:ext cx="10874959" cy="1280160"/>
          </a:xfrm>
          <a:prstGeom prst="rect">
            <a:avLst/>
          </a:prstGeom>
          <a:noFill/>
        </p:spPr>
        <p:txBody>
          <a:bodyPr wrap="square" lIns="0" rIns="0" tIns="0" bIns="0" anchor="t">
            <a:spAutoFit/>
          </a:bodyPr>
          <a:lstStyle/>
          <a:p>
            <a:pPr marL="237744" indent="-237744">
              <a:lnSpc>
                <a:spcPct val="106000"/>
              </a:lnSpc>
              <a:spcAft>
                <a:spcPts val="900"/>
              </a:spcAft>
            </a:pPr>
            <a:r>
              <a:rPr sz="1350" b="1">
                <a:solidFill>
                  <a:srgbClr val="1F6187"/>
                </a:solidFill>
                <a:latin typeface="Segoe UI"/>
              </a:rPr>
              <a:t>▪  </a:t>
            </a:r>
            <a:r>
              <a:rPr b="0" sz="1350">
                <a:solidFill>
                  <a:srgbClr val="44555F"/>
                </a:solidFill>
                <a:latin typeface="Segoe UI"/>
              </a:rPr>
              <a:t>React envoie </a:t>
            </a:r>
            <a:r>
              <a:rPr sz="1350">
                <a:solidFill>
                  <a:srgbClr val="44555F"/>
                </a:solidFill>
                <a:latin typeface="Consolas"/>
              </a:rPr>
              <a:t>POST /api/forecast</a:t>
            </a:r>
            <a:r>
              <a:rPr b="0" sz="1350">
                <a:solidFill>
                  <a:srgbClr val="44555F"/>
                </a:solidFill>
                <a:latin typeface="Segoe UI"/>
              </a:rPr>
              <a:t> avec l'article choisi, ou « Général » pour l'ensemble  ·  l'API agrège les mouvements par mois et lance le script Python en processus séparé</a:t>
            </a:r>
          </a:p>
          <a:p>
            <a:pPr marL="237744" indent="-237744">
              <a:lnSpc>
                <a:spcPct val="106000"/>
              </a:lnSpc>
              <a:spcAft>
                <a:spcPts val="900"/>
              </a:spcAft>
            </a:pPr>
            <a:r>
              <a:rPr sz="1350" b="1">
                <a:solidFill>
                  <a:srgbClr val="1F6187"/>
                </a:solidFill>
                <a:latin typeface="Segoe UI"/>
              </a:rPr>
              <a:t>▪  </a:t>
            </a:r>
            <a:r>
              <a:rPr b="0" sz="1350">
                <a:solidFill>
                  <a:srgbClr val="44555F"/>
                </a:solidFill>
                <a:latin typeface="Segoe UI"/>
              </a:rPr>
              <a:t>Les données passent en </a:t>
            </a:r>
            <a:r>
              <a:rPr b="1" sz="1350">
                <a:solidFill>
                  <a:srgbClr val="44555F"/>
                </a:solidFill>
                <a:latin typeface="Segoe UI"/>
              </a:rPr>
              <a:t>JSON par l'entrée standard</a:t>
            </a:r>
            <a:r>
              <a:rPr b="0" sz="1350">
                <a:solidFill>
                  <a:srgbClr val="44555F"/>
                </a:solidFill>
                <a:latin typeface="Segoe UI"/>
              </a:rPr>
              <a:t>, le résultat revient par la sortie standard : 12 valeurs d'entrées, 12 de sorties, et l'année prévue</a:t>
            </a:r>
          </a:p>
          <a:p>
            <a:pPr marL="237744" indent="-237744">
              <a:lnSpc>
                <a:spcPct val="106000"/>
              </a:lnSpc>
              <a:spcAft>
                <a:spcPts val="0"/>
              </a:spcAft>
            </a:pPr>
            <a:r>
              <a:rPr sz="1350" b="1">
                <a:solidFill>
                  <a:srgbClr val="1F6187"/>
                </a:solidFill>
                <a:latin typeface="Segoe UI"/>
              </a:rPr>
              <a:t>▪  </a:t>
            </a:r>
            <a:r>
              <a:rPr b="1" sz="1350">
                <a:solidFill>
                  <a:srgbClr val="44555F"/>
                </a:solidFill>
                <a:latin typeface="Segoe UI"/>
              </a:rPr>
              <a:t>Lecture seule</a:t>
            </a:r>
            <a:r>
              <a:rPr b="0" sz="1350">
                <a:solidFill>
                  <a:srgbClr val="44555F"/>
                </a:solidFill>
                <a:latin typeface="Segoe UI"/>
              </a:rPr>
              <a:t> : aucune donnée existante n'est modifiée — c'est une aide à la décision, pas une écriture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06 — RÉSULTATS ET BILAN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Analyse et aide à la décision</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22</a:t>
            </a:r>
          </a:p>
        </p:txBody>
      </p:sp>
      <p:pic>
        <p:nvPicPr>
          <p:cNvPr id="7" name="Picture 6" descr="evolution.png"/>
          <p:cNvPicPr>
            <a:picLocks noChangeAspect="1"/>
          </p:cNvPicPr>
          <p:nvPr/>
        </p:nvPicPr>
        <p:blipFill>
          <a:blip r:embed="rId2"/>
          <a:stretch>
            <a:fillRect/>
          </a:stretch>
        </p:blipFill>
        <p:spPr>
          <a:xfrm>
            <a:off x="1318972" y="1371600"/>
            <a:ext cx="4210912" cy="2057400"/>
          </a:xfrm>
          <a:prstGeom prst="rect">
            <a:avLst/>
          </a:prstGeom>
          <a:ln w="9525">
            <a:solidFill>
              <a:srgbClr val="D2DBDF"/>
            </a:solidFill>
          </a:ln>
        </p:spPr>
      </p:pic>
      <p:sp>
        <p:nvSpPr>
          <p:cNvPr id="8" name="TextBox 7"/>
          <p:cNvSpPr txBox="1"/>
          <p:nvPr/>
        </p:nvSpPr>
        <p:spPr>
          <a:xfrm>
            <a:off x="658368" y="3465576"/>
            <a:ext cx="5532120" cy="274320"/>
          </a:xfrm>
          <a:prstGeom prst="rect">
            <a:avLst/>
          </a:prstGeom>
          <a:noFill/>
        </p:spPr>
        <p:txBody>
          <a:bodyPr wrap="square" lIns="0" rIns="0" tIns="0" bIns="0" anchor="t">
            <a:spAutoFit/>
          </a:bodyPr>
          <a:lstStyle/>
          <a:p>
            <a:r>
              <a:rPr sz="1100">
                <a:solidFill>
                  <a:srgbClr val="6C7C86"/>
                </a:solidFill>
                <a:latin typeface="Segoe UI"/>
              </a:rPr>
              <a:t>Entrées contre sorties, par année et par article</a:t>
            </a:r>
          </a:p>
        </p:txBody>
      </p:sp>
      <p:pic>
        <p:nvPicPr>
          <p:cNvPr id="9" name="Picture 8" descr="remplissage.png"/>
          <p:cNvPicPr>
            <a:picLocks noChangeAspect="1"/>
          </p:cNvPicPr>
          <p:nvPr/>
        </p:nvPicPr>
        <p:blipFill>
          <a:blip r:embed="rId3"/>
          <a:stretch>
            <a:fillRect/>
          </a:stretch>
        </p:blipFill>
        <p:spPr>
          <a:xfrm>
            <a:off x="6977761" y="1371600"/>
            <a:ext cx="4780533" cy="2057400"/>
          </a:xfrm>
          <a:prstGeom prst="rect">
            <a:avLst/>
          </a:prstGeom>
          <a:ln w="9525">
            <a:solidFill>
              <a:srgbClr val="D2DBDF"/>
            </a:solidFill>
          </a:ln>
        </p:spPr>
      </p:pic>
      <p:sp>
        <p:nvSpPr>
          <p:cNvPr id="10" name="TextBox 9"/>
          <p:cNvSpPr txBox="1"/>
          <p:nvPr/>
        </p:nvSpPr>
        <p:spPr>
          <a:xfrm>
            <a:off x="6601968" y="3465576"/>
            <a:ext cx="5532120" cy="274320"/>
          </a:xfrm>
          <a:prstGeom prst="rect">
            <a:avLst/>
          </a:prstGeom>
          <a:noFill/>
        </p:spPr>
        <p:txBody>
          <a:bodyPr wrap="square" lIns="0" rIns="0" tIns="0" bIns="0" anchor="t">
            <a:spAutoFit/>
          </a:bodyPr>
          <a:lstStyle/>
          <a:p>
            <a:r>
              <a:rPr sz="1100">
                <a:solidFill>
                  <a:srgbClr val="6C7C86"/>
                </a:solidFill>
                <a:latin typeface="Segoe UI"/>
              </a:rPr>
              <a:t>Remplissage du stockage par article</a:t>
            </a:r>
          </a:p>
        </p:txBody>
      </p:sp>
      <p:pic>
        <p:nvPicPr>
          <p:cNvPr id="11" name="Picture 10" descr="plan.png"/>
          <p:cNvPicPr>
            <a:picLocks noChangeAspect="1"/>
          </p:cNvPicPr>
          <p:nvPr/>
        </p:nvPicPr>
        <p:blipFill>
          <a:blip r:embed="rId4"/>
          <a:stretch>
            <a:fillRect/>
          </a:stretch>
        </p:blipFill>
        <p:spPr>
          <a:xfrm>
            <a:off x="1743562" y="3794760"/>
            <a:ext cx="3361732" cy="2057400"/>
          </a:xfrm>
          <a:prstGeom prst="rect">
            <a:avLst/>
          </a:prstGeom>
          <a:ln w="9525">
            <a:solidFill>
              <a:srgbClr val="D2DBDF"/>
            </a:solidFill>
          </a:ln>
        </p:spPr>
      </p:pic>
      <p:sp>
        <p:nvSpPr>
          <p:cNvPr id="12" name="TextBox 11"/>
          <p:cNvSpPr txBox="1"/>
          <p:nvPr/>
        </p:nvSpPr>
        <p:spPr>
          <a:xfrm>
            <a:off x="658368" y="5888736"/>
            <a:ext cx="5532120" cy="274320"/>
          </a:xfrm>
          <a:prstGeom prst="rect">
            <a:avLst/>
          </a:prstGeom>
          <a:noFill/>
        </p:spPr>
        <p:txBody>
          <a:bodyPr wrap="square" lIns="0" rIns="0" tIns="0" bIns="0" anchor="t">
            <a:spAutoFit/>
          </a:bodyPr>
          <a:lstStyle/>
          <a:p>
            <a:r>
              <a:rPr sz="1100">
                <a:solidFill>
                  <a:srgbClr val="6C7C86"/>
                </a:solidFill>
                <a:latin typeface="Segoe UI"/>
              </a:rPr>
              <a:t>Plan d'entrepôt : hauteur = occupation, largeur = capacité</a:t>
            </a:r>
          </a:p>
        </p:txBody>
      </p:sp>
      <p:pic>
        <p:nvPicPr>
          <p:cNvPr id="13" name="Picture 12" descr="carte.png"/>
          <p:cNvPicPr>
            <a:picLocks noChangeAspect="1"/>
          </p:cNvPicPr>
          <p:nvPr/>
        </p:nvPicPr>
        <p:blipFill>
          <a:blip r:embed="rId5"/>
          <a:stretch>
            <a:fillRect/>
          </a:stretch>
        </p:blipFill>
        <p:spPr>
          <a:xfrm>
            <a:off x="6977986" y="3794760"/>
            <a:ext cx="4780084" cy="2057400"/>
          </a:xfrm>
          <a:prstGeom prst="rect">
            <a:avLst/>
          </a:prstGeom>
          <a:ln w="9525">
            <a:solidFill>
              <a:srgbClr val="D2DBDF"/>
            </a:solidFill>
          </a:ln>
        </p:spPr>
      </p:pic>
      <p:sp>
        <p:nvSpPr>
          <p:cNvPr id="14" name="TextBox 13"/>
          <p:cNvSpPr txBox="1"/>
          <p:nvPr/>
        </p:nvSpPr>
        <p:spPr>
          <a:xfrm>
            <a:off x="6601968" y="5888736"/>
            <a:ext cx="5532120" cy="274320"/>
          </a:xfrm>
          <a:prstGeom prst="rect">
            <a:avLst/>
          </a:prstGeom>
          <a:noFill/>
        </p:spPr>
        <p:txBody>
          <a:bodyPr wrap="square" lIns="0" rIns="0" tIns="0" bIns="0" anchor="t">
            <a:spAutoFit/>
          </a:bodyPr>
          <a:lstStyle/>
          <a:p>
            <a:r>
              <a:rPr sz="1100">
                <a:solidFill>
                  <a:srgbClr val="6C7C86"/>
                </a:solidFill>
                <a:latin typeface="Segoe UI"/>
              </a:rPr>
              <a:t>Carte des sites, géolocalisés automatiquement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06 — RÉSULTATS ET BILAN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Sécurité et intégrité des données</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23</a:t>
            </a:r>
          </a:p>
        </p:txBody>
      </p:sp>
      <p:sp>
        <p:nvSpPr>
          <p:cNvPr id="7" name="Rectangle 6"/>
          <p:cNvSpPr/>
          <p:nvPr/>
        </p:nvSpPr>
        <p:spPr>
          <a:xfrm>
            <a:off x="658368" y="1371600"/>
            <a:ext cx="5120640" cy="2468880"/>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54480"/>
            <a:ext cx="4645152" cy="2139696"/>
          </a:xfrm>
          <a:prstGeom prst="rect">
            <a:avLst/>
          </a:prstGeom>
          <a:noFill/>
        </p:spPr>
        <p:txBody>
          <a:bodyPr wrap="square" lIns="0" rIns="0" tIns="0" bIns="0" anchor="t">
            <a:spAutoFit/>
          </a:bodyPr>
          <a:lstStyle/>
          <a:p>
            <a:pPr>
              <a:spcAft>
                <a:spcPts val="900"/>
              </a:spcAft>
            </a:pPr>
            <a:r>
              <a:rPr sz="1050" b="1">
                <a:solidFill>
                  <a:srgbClr val="1F6187"/>
                </a:solidFill>
                <a:latin typeface="Segoe UI"/>
              </a:rPr>
              <a:t>CONTRÔLE D'ACCÈS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Authentification par </a:t>
            </a:r>
            <a:r>
              <a:rPr b="1" sz="1350">
                <a:solidFill>
                  <a:srgbClr val="44555F"/>
                </a:solidFill>
                <a:latin typeface="Segoe UI"/>
              </a:rPr>
              <a:t>jeton JWT signé</a:t>
            </a:r>
            <a:r>
              <a:rPr b="0" sz="1350">
                <a:solidFill>
                  <a:srgbClr val="44555F"/>
                </a:solidFill>
                <a:latin typeface="Segoe UI"/>
              </a:rPr>
              <a:t>, valable 60 minutes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Rôle vérifié côté API sur </a:t>
            </a:r>
            <a:r>
              <a:rPr b="1" sz="1350">
                <a:solidFill>
                  <a:srgbClr val="44555F"/>
                </a:solidFill>
                <a:latin typeface="Segoe UI"/>
              </a:rPr>
              <a:t>chaque</a:t>
            </a:r>
            <a:r>
              <a:rPr b="0" sz="1350">
                <a:solidFill>
                  <a:srgbClr val="44555F"/>
                </a:solidFill>
                <a:latin typeface="Segoe UI"/>
              </a:rPr>
              <a:t> opération d'écriture</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Mots de passe : </a:t>
            </a:r>
            <a:r>
              <a:rPr b="1" sz="1350">
                <a:solidFill>
                  <a:srgbClr val="44555F"/>
                </a:solidFill>
                <a:latin typeface="Segoe UI"/>
              </a:rPr>
              <a:t>PBKDF2-SHA256</a:t>
            </a:r>
            <a:r>
              <a:rPr b="0" sz="1350">
                <a:solidFill>
                  <a:srgbClr val="44555F"/>
                </a:solidFill>
                <a:latin typeface="Segoe UI"/>
              </a:rPr>
              <a:t>, 100 000 itérations, sel unique par compte</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Secrets hors du dépôt · origines restreintes · jeton expiré → reconnexion</a:t>
            </a:r>
          </a:p>
        </p:txBody>
      </p:sp>
      <p:sp>
        <p:nvSpPr>
          <p:cNvPr id="9" name="Rectangle 8"/>
          <p:cNvSpPr/>
          <p:nvPr/>
        </p:nvSpPr>
        <p:spPr>
          <a:xfrm>
            <a:off x="658368" y="4069080"/>
            <a:ext cx="5120640" cy="182880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4251960"/>
            <a:ext cx="4645152" cy="1499616"/>
          </a:xfrm>
          <a:prstGeom prst="rect">
            <a:avLst/>
          </a:prstGeom>
          <a:noFill/>
        </p:spPr>
        <p:txBody>
          <a:bodyPr wrap="square" lIns="0" rIns="0" tIns="0" bIns="0" anchor="t">
            <a:spAutoFit/>
          </a:bodyPr>
          <a:lstStyle/>
          <a:p>
            <a:pPr>
              <a:spcAft>
                <a:spcPts val="900"/>
              </a:spcAft>
            </a:pPr>
            <a:r>
              <a:rPr sz="1050" b="1">
                <a:solidFill>
                  <a:srgbClr val="6C7C86"/>
                </a:solidFill>
                <a:latin typeface="Segoe UI"/>
              </a:rPr>
              <a:t>INTÉGRITÉ DES DONNÉES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Index uniques · transactions · stock jamais négatif</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Suppressions non destructives : on archive au lieu d'effacer</a:t>
            </a:r>
          </a:p>
        </p:txBody>
      </p:sp>
      <p:pic>
        <p:nvPicPr>
          <p:cNvPr id="11" name="Picture 10" descr="login.png"/>
          <p:cNvPicPr>
            <a:picLocks noChangeAspect="1"/>
          </p:cNvPicPr>
          <p:nvPr/>
        </p:nvPicPr>
        <p:blipFill>
          <a:blip r:embed="rId2"/>
          <a:stretch>
            <a:fillRect/>
          </a:stretch>
        </p:blipFill>
        <p:spPr>
          <a:xfrm>
            <a:off x="6035040" y="1894251"/>
            <a:ext cx="5486400" cy="2612297"/>
          </a:xfrm>
          <a:prstGeom prst="rect">
            <a:avLst/>
          </a:prstGeom>
          <a:ln w="9525">
            <a:solidFill>
              <a:srgbClr val="D2DBDF"/>
            </a:solidFill>
          </a:ln>
        </p:spPr>
      </p:pic>
      <p:sp>
        <p:nvSpPr>
          <p:cNvPr id="12" name="TextBox 11"/>
          <p:cNvSpPr txBox="1"/>
          <p:nvPr/>
        </p:nvSpPr>
        <p:spPr>
          <a:xfrm>
            <a:off x="6035040" y="5257800"/>
            <a:ext cx="5486400" cy="640080"/>
          </a:xfrm>
          <a:prstGeom prst="rect">
            <a:avLst/>
          </a:prstGeom>
          <a:noFill/>
        </p:spPr>
        <p:txBody>
          <a:bodyPr wrap="square" lIns="0" rIns="0" tIns="0" bIns="0" anchor="t">
            <a:spAutoFit/>
          </a:bodyPr>
          <a:lstStyle/>
          <a:p>
            <a:pPr>
              <a:lnSpc>
                <a:spcPct val="108000"/>
              </a:lnSpc>
              <a:spcAft>
                <a:spcPts val="0"/>
              </a:spcAft>
            </a:pPr>
            <a:r>
              <a:rPr b="0" sz="1250">
                <a:solidFill>
                  <a:srgbClr val="6C7C86"/>
                </a:solidFill>
                <a:latin typeface="Segoe UI"/>
              </a:rPr>
              <a:t>Ma première version utilisait un simple SHA-256 : trop rapide, donc trop facile à attaquer. Corrigé en cours de projet.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06 — RÉSULTATS ET BILAN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Difficultés rencontrées</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24</a:t>
            </a:r>
          </a:p>
        </p:txBody>
      </p:sp>
      <p:graphicFrame>
        <p:nvGraphicFramePr>
          <p:cNvPr id="7" name="Table 6"/>
          <p:cNvGraphicFramePr>
            <a:graphicFrameLocks noGrp="1"/>
          </p:cNvGraphicFramePr>
          <p:nvPr/>
        </p:nvGraphicFramePr>
        <p:xfrm>
          <a:off x="658368" y="1417320"/>
          <a:ext cx="10881360" cy="4206240"/>
        </p:xfrm>
        <a:graphic>
          <a:graphicData uri="http://schemas.openxmlformats.org/drawingml/2006/table">
            <a:tbl>
              <a:tblPr firstRow="0" bandRow="0">
                <a:tableStyleId>{5C22544A-7EE6-4342-B048-85BDC9FD1C3A}</a:tableStyleId>
              </a:tblPr>
              <a:tblGrid>
                <a:gridCol w="3383280"/>
                <a:gridCol w="4297680"/>
                <a:gridCol w="3200400"/>
              </a:tblGrid>
              <a:tr h="384048">
                <a:tc>
                  <a:txBody>
                    <a:bodyPr/>
                    <a:lstStyle/>
                    <a:p>
                      <a:r>
                        <a:rPr sz="1100" b="1">
                          <a:solidFill>
                            <a:srgbClr val="FFFFFF"/>
                          </a:solidFill>
                          <a:latin typeface="Segoe UI"/>
                        </a:rPr>
                        <a:t>Difficulté</a:t>
                      </a:r>
                    </a:p>
                  </a:txBody>
                  <a:tcPr marL="128016" marR="128016" marT="64008" marB="64008" anchor="ctr">
                    <a:solidFill>
                      <a:srgbClr val="12181D"/>
                    </a:solidFill>
                  </a:tcPr>
                </a:tc>
                <a:tc>
                  <a:txBody>
                    <a:bodyPr/>
                    <a:lstStyle/>
                    <a:p>
                      <a:r>
                        <a:rPr sz="1100" b="1">
                          <a:solidFill>
                            <a:srgbClr val="FFFFFF"/>
                          </a:solidFill>
                          <a:latin typeface="Segoe UI"/>
                        </a:rPr>
                        <a:t>Solution apportée</a:t>
                      </a:r>
                    </a:p>
                  </a:txBody>
                  <a:tcPr marL="128016" marR="128016" marT="64008" marB="64008" anchor="ctr">
                    <a:solidFill>
                      <a:srgbClr val="12181D"/>
                    </a:solidFill>
                  </a:tcPr>
                </a:tc>
                <a:tc>
                  <a:txBody>
                    <a:bodyPr/>
                    <a:lstStyle/>
                    <a:p>
                      <a:r>
                        <a:rPr sz="1100" b="1">
                          <a:solidFill>
                            <a:srgbClr val="FFFFFF"/>
                          </a:solidFill>
                          <a:latin typeface="Segoe UI"/>
                        </a:rPr>
                        <a:t>Résultat</a:t>
                      </a:r>
                    </a:p>
                  </a:txBody>
                  <a:tcPr marL="128016" marR="128016" marT="64008" marB="64008" anchor="ctr">
                    <a:solidFill>
                      <a:srgbClr val="12181D"/>
                    </a:solidFill>
                  </a:tcPr>
                </a:tc>
              </a:tr>
              <a:tr h="955548">
                <a:tc>
                  <a:txBody>
                    <a:bodyPr wrap="square"/>
                    <a:lstStyle/>
                    <a:p>
                      <a:r>
                        <a:rPr b="1" sz="1250">
                          <a:solidFill>
                            <a:srgbClr val="12181D"/>
                          </a:solidFill>
                          <a:latin typeface="Segoe UI"/>
                        </a:rPr>
                        <a:t>Reprendre un prototype et une charte imposés</a:t>
                      </a:r>
                    </a:p>
                  </a:txBody>
                  <a:tcPr marL="128016" marR="128016" marT="54864" marB="54864" anchor="ctr">
                    <a:solidFill>
                      <a:srgbClr val="FFFFFF"/>
                    </a:solidFill>
                  </a:tcPr>
                </a:tc>
                <a:tc>
                  <a:txBody>
                    <a:bodyPr wrap="square"/>
                    <a:lstStyle/>
                    <a:p>
                      <a:r>
                        <a:rPr b="0" sz="1250">
                          <a:solidFill>
                            <a:srgbClr val="44555F"/>
                          </a:solidFill>
                          <a:latin typeface="Segoe UI"/>
                        </a:rPr>
                        <a:t>Lire le code avant d'écrire, conserver la structure et les styles fournis</a:t>
                      </a:r>
                    </a:p>
                  </a:txBody>
                  <a:tcPr marL="128016" marR="128016" marT="54864" marB="54864" anchor="ctr">
                    <a:solidFill>
                      <a:srgbClr val="FFFFFF"/>
                    </a:solidFill>
                  </a:tcPr>
                </a:tc>
                <a:tc>
                  <a:txBody>
                    <a:bodyPr wrap="square"/>
                    <a:lstStyle/>
                    <a:p>
                      <a:r>
                        <a:rPr b="0" sz="1250">
                          <a:solidFill>
                            <a:srgbClr val="44555F"/>
                          </a:solidFill>
                          <a:latin typeface="Segoe UI"/>
                        </a:rPr>
                        <a:t>Développement démarré sans tout réécrire</a:t>
                      </a:r>
                    </a:p>
                  </a:txBody>
                  <a:tcPr marL="128016" marR="128016" marT="54864" marB="54864" anchor="ctr">
                    <a:solidFill>
                      <a:srgbClr val="FFFFFF"/>
                    </a:solidFill>
                  </a:tcPr>
                </a:tc>
              </a:tr>
              <a:tr h="955548">
                <a:tc>
                  <a:txBody>
                    <a:bodyPr wrap="square"/>
                    <a:lstStyle/>
                    <a:p>
                      <a:r>
                        <a:rPr b="1" sz="1250">
                          <a:solidFill>
                            <a:srgbClr val="12181D"/>
                          </a:solidFill>
                          <a:latin typeface="Segoe UI"/>
                        </a:rPr>
                        <a:t>Des fichiers Excel réels non conformes</a:t>
                      </a:r>
                    </a:p>
                  </a:txBody>
                  <a:tcPr marL="128016" marR="128016" marT="54864" marB="54864" anchor="ctr">
                    <a:solidFill>
                      <a:srgbClr val="F2F5F6"/>
                    </a:solidFill>
                  </a:tcPr>
                </a:tc>
                <a:tc>
                  <a:txBody>
                    <a:bodyPr wrap="square"/>
                    <a:lstStyle/>
                    <a:p>
                      <a:r>
                        <a:rPr b="0" sz="1250">
                          <a:solidFill>
                            <a:srgbClr val="44555F"/>
                          </a:solidFill>
                          <a:latin typeface="Segoe UI"/>
                        </a:rPr>
                        <a:t>Un nettoyage qui corrige au lieu de rejeter, et journalise chaque correction</a:t>
                      </a:r>
                    </a:p>
                  </a:txBody>
                  <a:tcPr marL="128016" marR="128016" marT="54864" marB="54864" anchor="ctr">
                    <a:solidFill>
                      <a:srgbClr val="F2F5F6"/>
                    </a:solidFill>
                  </a:tcPr>
                </a:tc>
                <a:tc>
                  <a:txBody>
                    <a:bodyPr wrap="square"/>
                    <a:lstStyle/>
                    <a:p>
                      <a:r>
                        <a:rPr b="0" sz="1250">
                          <a:solidFill>
                            <a:srgbClr val="44555F"/>
                          </a:solidFill>
                          <a:latin typeface="Segoe UI"/>
                        </a:rPr>
                        <a:t>L'import aboutit et reste vérifiable</a:t>
                      </a:r>
                    </a:p>
                  </a:txBody>
                  <a:tcPr marL="128016" marR="128016" marT="54864" marB="54864" anchor="ctr">
                    <a:solidFill>
                      <a:srgbClr val="F2F5F6"/>
                    </a:solidFill>
                  </a:tcPr>
                </a:tc>
              </a:tr>
              <a:tr h="955548">
                <a:tc>
                  <a:txBody>
                    <a:bodyPr wrap="square"/>
                    <a:lstStyle/>
                    <a:p>
                      <a:r>
                        <a:rPr b="1" sz="1250">
                          <a:solidFill>
                            <a:srgbClr val="12181D"/>
                          </a:solidFill>
                          <a:latin typeface="Segoe UI"/>
                        </a:rPr>
                        <a:t>Supprimer une case détruisait l'historique</a:t>
                      </a:r>
                    </a:p>
                  </a:txBody>
                  <a:tcPr marL="128016" marR="128016" marT="54864" marB="54864" anchor="ctr">
                    <a:solidFill>
                      <a:srgbClr val="FFFFFF"/>
                    </a:solidFill>
                  </a:tcPr>
                </a:tc>
                <a:tc>
                  <a:txBody>
                    <a:bodyPr wrap="square"/>
                    <a:lstStyle/>
                    <a:p>
                      <a:r>
                        <a:rPr b="0" sz="1250">
                          <a:solidFill>
                            <a:srgbClr val="44555F"/>
                          </a:solidFill>
                          <a:latin typeface="Segoe UI"/>
                        </a:rPr>
                        <a:t>Détachement daté des mouvements ; désactivation de l'article au lieu de la suppression</a:t>
                      </a:r>
                    </a:p>
                  </a:txBody>
                  <a:tcPr marL="128016" marR="128016" marT="54864" marB="54864" anchor="ctr">
                    <a:solidFill>
                      <a:srgbClr val="FFFFFF"/>
                    </a:solidFill>
                  </a:tcPr>
                </a:tc>
                <a:tc>
                  <a:txBody>
                    <a:bodyPr wrap="square"/>
                    <a:lstStyle/>
                    <a:p>
                      <a:r>
                        <a:rPr b="0" sz="1250">
                          <a:solidFill>
                            <a:srgbClr val="44555F"/>
                          </a:solidFill>
                          <a:latin typeface="Segoe UI"/>
                        </a:rPr>
                        <a:t>L'historique survit à la réorganisation</a:t>
                      </a:r>
                    </a:p>
                  </a:txBody>
                  <a:tcPr marL="128016" marR="128016" marT="54864" marB="54864" anchor="ctr">
                    <a:solidFill>
                      <a:srgbClr val="FFFFFF"/>
                    </a:solidFill>
                  </a:tcPr>
                </a:tc>
              </a:tr>
              <a:tr h="955548">
                <a:tc>
                  <a:txBody>
                    <a:bodyPr wrap="square"/>
                    <a:lstStyle/>
                    <a:p>
                      <a:r>
                        <a:rPr b="1" sz="1250">
                          <a:solidFill>
                            <a:srgbClr val="12181D"/>
                          </a:solidFill>
                          <a:latin typeface="Segoe UI"/>
                        </a:rPr>
                        <a:t>Les mises à jour échouaient sur les 4 niveaux</a:t>
                      </a:r>
                    </a:p>
                  </a:txBody>
                  <a:tcPr marL="128016" marR="128016" marT="54864" marB="54864" anchor="ctr">
                    <a:solidFill>
                      <a:srgbClr val="F2F5F6"/>
                    </a:solidFill>
                  </a:tcPr>
                </a:tc>
                <a:tc>
                  <a:txBody>
                    <a:bodyPr wrap="square"/>
                    <a:lstStyle/>
                    <a:p>
                      <a:r>
                        <a:rPr b="0" sz="1250">
                          <a:solidFill>
                            <a:srgbClr val="44555F"/>
                          </a:solidFill>
                          <a:latin typeface="Segoe UI"/>
                        </a:rPr>
                        <a:t>Isoler la cause méthodiquement avant de corriger</a:t>
                      </a:r>
                    </a:p>
                  </a:txBody>
                  <a:tcPr marL="128016" marR="128016" marT="54864" marB="54864" anchor="ctr">
                    <a:solidFill>
                      <a:srgbClr val="F2F5F6"/>
                    </a:solidFill>
                  </a:tcPr>
                </a:tc>
                <a:tc>
                  <a:txBody>
                    <a:bodyPr wrap="square"/>
                    <a:lstStyle/>
                    <a:p>
                      <a:r>
                        <a:rPr b="0" sz="1250">
                          <a:solidFill>
                            <a:srgbClr val="44555F"/>
                          </a:solidFill>
                          <a:latin typeface="Segoe UI"/>
                        </a:rPr>
                        <a:t>Modification stable sur case, zone, rayon et magasin</a:t>
                      </a:r>
                    </a:p>
                  </a:txBody>
                  <a:tcPr marL="128016" marR="128016" marT="54864" marB="54864" anchor="ctr">
                    <a:solidFill>
                      <a:srgbClr val="F2F5F6"/>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06 — RÉSULTATS ET BILAN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Résultats, limites et perspectives</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25</a:t>
            </a:r>
          </a:p>
        </p:txBody>
      </p:sp>
      <p:sp>
        <p:nvSpPr>
          <p:cNvPr id="7" name="Rectangle 6"/>
          <p:cNvSpPr/>
          <p:nvPr/>
        </p:nvSpPr>
        <p:spPr>
          <a:xfrm>
            <a:off x="658368" y="1371600"/>
            <a:ext cx="3566160" cy="3657600"/>
          </a:xfrm>
          <a:prstGeom prst="rect">
            <a:avLst/>
          </a:prstGeom>
          <a:solidFill>
            <a:srgbClr val="DFEFE5"/>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54480"/>
            <a:ext cx="3090672" cy="3328416"/>
          </a:xfrm>
          <a:prstGeom prst="rect">
            <a:avLst/>
          </a:prstGeom>
          <a:noFill/>
        </p:spPr>
        <p:txBody>
          <a:bodyPr wrap="square" lIns="0" rIns="0" tIns="0" bIns="0" anchor="t">
            <a:spAutoFit/>
          </a:bodyPr>
          <a:lstStyle/>
          <a:p>
            <a:pPr>
              <a:spcAft>
                <a:spcPts val="900"/>
              </a:spcAft>
            </a:pPr>
            <a:r>
              <a:rPr sz="1050" b="1">
                <a:solidFill>
                  <a:srgbClr val="286B48"/>
                </a:solidFill>
                <a:latin typeface="Segoe UI"/>
              </a:rPr>
              <a:t>RÉALISÉ</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42 opérations HTTP · 7 entités · 5 sections d'interface</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Import contrôlé avec aperçu</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Export réimportable CSV et XLSX</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Prévision à 12 mois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Authentification et rôles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Testé sur 720 mouvements depuis 2016</a:t>
            </a:r>
          </a:p>
        </p:txBody>
      </p:sp>
      <p:sp>
        <p:nvSpPr>
          <p:cNvPr id="9" name="Rectangle 8"/>
          <p:cNvSpPr/>
          <p:nvPr/>
        </p:nvSpPr>
        <p:spPr>
          <a:xfrm>
            <a:off x="4590288" y="1371600"/>
            <a:ext cx="3566160" cy="3657600"/>
          </a:xfrm>
          <a:prstGeom prst="rect">
            <a:avLst/>
          </a:prstGeom>
          <a:solidFill>
            <a:srgbClr val="F7EBD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28032" y="1554480"/>
            <a:ext cx="3090672" cy="3328416"/>
          </a:xfrm>
          <a:prstGeom prst="rect">
            <a:avLst/>
          </a:prstGeom>
          <a:noFill/>
        </p:spPr>
        <p:txBody>
          <a:bodyPr wrap="square" lIns="0" rIns="0" tIns="0" bIns="0" anchor="t">
            <a:spAutoFit/>
          </a:bodyPr>
          <a:lstStyle/>
          <a:p>
            <a:pPr>
              <a:spcAft>
                <a:spcPts val="900"/>
              </a:spcAft>
            </a:pPr>
            <a:r>
              <a:rPr sz="1050" b="1">
                <a:solidFill>
                  <a:srgbClr val="96590A"/>
                </a:solidFill>
                <a:latin typeface="Segoe UI"/>
              </a:rPr>
              <a:t>LIMITES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Pas de tests automatisés dans le dépôt : vérifications manuelles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Recherche et pagination calculées côté navigateur</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Prévision simple, sans indicateur d'erreur mesuré</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Exécution en environnement de développement</a:t>
            </a:r>
          </a:p>
        </p:txBody>
      </p:sp>
      <p:sp>
        <p:nvSpPr>
          <p:cNvPr id="11" name="Rectangle 10"/>
          <p:cNvSpPr/>
          <p:nvPr/>
        </p:nvSpPr>
        <p:spPr>
          <a:xfrm>
            <a:off x="8522208" y="1371600"/>
            <a:ext cx="3566160" cy="3657600"/>
          </a:xfrm>
          <a:prstGeom prst="rect">
            <a:avLst/>
          </a:prstGeom>
          <a:solidFill>
            <a:srgbClr val="E2EDF4"/>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59952" y="1554480"/>
            <a:ext cx="3090672" cy="3328416"/>
          </a:xfrm>
          <a:prstGeom prst="rect">
            <a:avLst/>
          </a:prstGeom>
          <a:noFill/>
        </p:spPr>
        <p:txBody>
          <a:bodyPr wrap="square" lIns="0" rIns="0" tIns="0" bIns="0" anchor="t">
            <a:spAutoFit/>
          </a:bodyPr>
          <a:lstStyle/>
          <a:p>
            <a:pPr>
              <a:spcAft>
                <a:spcPts val="900"/>
              </a:spcAft>
            </a:pPr>
            <a:r>
              <a:rPr sz="1050" b="1">
                <a:solidFill>
                  <a:srgbClr val="1F6187"/>
                </a:solidFill>
                <a:latin typeface="Segoe UI"/>
              </a:rPr>
              <a:t>PERSPECTIVES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Pagination et recherche côté serveur</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Tests automatisés</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Mesurer l'écart entre prévu et réalisé</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Alertes automatiques sur seuil</a:t>
            </a:r>
          </a:p>
          <a:p>
            <a:pPr marL="237744" indent="-237744">
              <a:lnSpc>
                <a:spcPct val="102000"/>
              </a:lnSpc>
              <a:spcAft>
                <a:spcPts val="700"/>
              </a:spcAft>
            </a:pPr>
            <a:r>
              <a:rPr sz="1350" b="1">
                <a:solidFill>
                  <a:srgbClr val="1F6187"/>
                </a:solidFill>
                <a:latin typeface="Segoe UI"/>
              </a:rPr>
              <a:t>▪  </a:t>
            </a:r>
            <a:r>
              <a:rPr b="0" sz="1350">
                <a:solidFill>
                  <a:srgbClr val="44555F"/>
                </a:solidFill>
                <a:latin typeface="Segoe UI"/>
              </a:rPr>
              <a:t>Déploiement sécurisé en HTTPS</a:t>
            </a:r>
          </a:p>
        </p:txBody>
      </p:sp>
      <p:sp>
        <p:nvSpPr>
          <p:cNvPr id="13" name="TextBox 12"/>
          <p:cNvSpPr txBox="1"/>
          <p:nvPr/>
        </p:nvSpPr>
        <p:spPr>
          <a:xfrm>
            <a:off x="658368" y="5349240"/>
            <a:ext cx="10874959" cy="640080"/>
          </a:xfrm>
          <a:prstGeom prst="rect">
            <a:avLst/>
          </a:prstGeom>
          <a:noFill/>
        </p:spPr>
        <p:txBody>
          <a:bodyPr wrap="square" lIns="0" rIns="0" tIns="0" bIns="0" anchor="t">
            <a:spAutoFit/>
          </a:bodyPr>
          <a:lstStyle/>
          <a:p>
            <a:pPr>
              <a:lnSpc>
                <a:spcPct val="100000"/>
              </a:lnSpc>
              <a:spcAft>
                <a:spcPts val="0"/>
              </a:spcAft>
            </a:pPr>
            <a:r>
              <a:rPr b="0" sz="1350">
                <a:solidFill>
                  <a:srgbClr val="6C7C86"/>
                </a:solidFill>
                <a:latin typeface="Segoe UI"/>
              </a:rPr>
              <a:t>C'est seulement en mesurant l'écart entre le prévu et le réalisé qu'il deviendrait pertinent d'essayer un modèle plus avancé.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06 — RÉSULTATS ET BILAN</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Conclusion</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26</a:t>
            </a:r>
          </a:p>
        </p:txBody>
      </p:sp>
      <p:sp>
        <p:nvSpPr>
          <p:cNvPr id="7" name="Rectangle 6"/>
          <p:cNvSpPr/>
          <p:nvPr/>
        </p:nvSpPr>
        <p:spPr>
          <a:xfrm>
            <a:off x="658368" y="1508760"/>
            <a:ext cx="44450" cy="9144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508760"/>
            <a:ext cx="10607040" cy="914400"/>
          </a:xfrm>
          <a:prstGeom prst="rect">
            <a:avLst/>
          </a:prstGeom>
          <a:noFill/>
        </p:spPr>
        <p:txBody>
          <a:bodyPr wrap="square" lIns="0" rIns="0" tIns="0" bIns="0" anchor="t">
            <a:spAutoFit/>
          </a:bodyPr>
          <a:lstStyle/>
          <a:p>
            <a:pPr>
              <a:spcAft>
                <a:spcPts val="500"/>
              </a:spcAft>
            </a:pPr>
            <a:r>
              <a:rPr sz="1500" b="1">
                <a:solidFill>
                  <a:srgbClr val="1F6187"/>
                </a:solidFill>
                <a:latin typeface="Segoe UI Semibold"/>
              </a:rPr>
              <a:t>Le problème</a:t>
            </a:r>
          </a:p>
          <a:p>
            <a:pPr>
              <a:lnSpc>
                <a:spcPct val="108000"/>
              </a:lnSpc>
              <a:spcAft>
                <a:spcPts val="0"/>
              </a:spcAft>
            </a:pPr>
            <a:r>
              <a:rPr b="0" sz="1500">
                <a:solidFill>
                  <a:srgbClr val="44555F"/>
                </a:solidFill>
                <a:latin typeface="Segoe UI"/>
              </a:rPr>
              <a:t>Des stocks suivis sans localisation fiable ni contrôle des données entrantes.</a:t>
            </a:r>
          </a:p>
        </p:txBody>
      </p:sp>
      <p:sp>
        <p:nvSpPr>
          <p:cNvPr id="9" name="Rectangle 8"/>
          <p:cNvSpPr/>
          <p:nvPr/>
        </p:nvSpPr>
        <p:spPr>
          <a:xfrm>
            <a:off x="658368" y="2624328"/>
            <a:ext cx="44450" cy="9144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624328"/>
            <a:ext cx="10607040" cy="914400"/>
          </a:xfrm>
          <a:prstGeom prst="rect">
            <a:avLst/>
          </a:prstGeom>
          <a:noFill/>
        </p:spPr>
        <p:txBody>
          <a:bodyPr wrap="square" lIns="0" rIns="0" tIns="0" bIns="0" anchor="t">
            <a:spAutoFit/>
          </a:bodyPr>
          <a:lstStyle/>
          <a:p>
            <a:pPr>
              <a:spcAft>
                <a:spcPts val="500"/>
              </a:spcAft>
            </a:pPr>
            <a:r>
              <a:rPr sz="1500" b="1">
                <a:solidFill>
                  <a:srgbClr val="1F6187"/>
                </a:solidFill>
                <a:latin typeface="Segoe UI Semibold"/>
              </a:rPr>
              <a:t>La solution</a:t>
            </a:r>
          </a:p>
          <a:p>
            <a:pPr>
              <a:lnSpc>
                <a:spcPct val="108000"/>
              </a:lnSpc>
              <a:spcAft>
                <a:spcPts val="0"/>
              </a:spcAft>
            </a:pPr>
            <a:r>
              <a:rPr b="0" sz="1500">
                <a:solidFill>
                  <a:srgbClr val="44555F"/>
                </a:solidFill>
                <a:latin typeface="Segoe UI"/>
              </a:rPr>
              <a:t>Une application qui relie la hiérarchie physique aux mouvements mensuels, contrôle ce qui entre en base et restitue des indicateurs et une projection.</a:t>
            </a:r>
          </a:p>
        </p:txBody>
      </p:sp>
      <p:sp>
        <p:nvSpPr>
          <p:cNvPr id="11" name="Rectangle 10"/>
          <p:cNvSpPr/>
          <p:nvPr/>
        </p:nvSpPr>
        <p:spPr>
          <a:xfrm>
            <a:off x="658368" y="3739896"/>
            <a:ext cx="44450" cy="9144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3739896"/>
            <a:ext cx="10607040" cy="914400"/>
          </a:xfrm>
          <a:prstGeom prst="rect">
            <a:avLst/>
          </a:prstGeom>
          <a:noFill/>
        </p:spPr>
        <p:txBody>
          <a:bodyPr wrap="square" lIns="0" rIns="0" tIns="0" bIns="0" anchor="t">
            <a:spAutoFit/>
          </a:bodyPr>
          <a:lstStyle/>
          <a:p>
            <a:pPr>
              <a:spcAft>
                <a:spcPts val="500"/>
              </a:spcAft>
            </a:pPr>
            <a:r>
              <a:rPr sz="1500" b="1">
                <a:solidFill>
                  <a:srgbClr val="1F6187"/>
                </a:solidFill>
                <a:latin typeface="Segoe UI Semibold"/>
              </a:rPr>
              <a:t>Ce que j'ai appris</a:t>
            </a:r>
          </a:p>
          <a:p>
            <a:pPr>
              <a:lnSpc>
                <a:spcPct val="108000"/>
              </a:lnSpc>
              <a:spcAft>
                <a:spcPts val="0"/>
              </a:spcAft>
            </a:pPr>
            <a:r>
              <a:rPr b="0" sz="1500">
                <a:solidFill>
                  <a:srgbClr val="44555F"/>
                </a:solidFill>
                <a:latin typeface="Segoe UI"/>
              </a:rPr>
              <a:t>Architecture en couches et API REST, modélisation relationnelle et EF Core, qualité des données, visualisation, sécurité applicative.</a:t>
            </a:r>
          </a:p>
        </p:txBody>
      </p:sp>
      <p:sp>
        <p:nvSpPr>
          <p:cNvPr id="13" name="Rectangle 12"/>
          <p:cNvSpPr/>
          <p:nvPr/>
        </p:nvSpPr>
        <p:spPr>
          <a:xfrm>
            <a:off x="658368" y="4855464"/>
            <a:ext cx="44450" cy="9144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4855464"/>
            <a:ext cx="10607040" cy="914400"/>
          </a:xfrm>
          <a:prstGeom prst="rect">
            <a:avLst/>
          </a:prstGeom>
          <a:noFill/>
        </p:spPr>
        <p:txBody>
          <a:bodyPr wrap="square" lIns="0" rIns="0" tIns="0" bIns="0" anchor="t">
            <a:spAutoFit/>
          </a:bodyPr>
          <a:lstStyle/>
          <a:p>
            <a:pPr>
              <a:spcAft>
                <a:spcPts val="500"/>
              </a:spcAft>
            </a:pPr>
            <a:r>
              <a:rPr sz="1500" b="1">
                <a:solidFill>
                  <a:srgbClr val="1F6187"/>
                </a:solidFill>
                <a:latin typeface="Segoe UI Semibold"/>
              </a:rPr>
              <a:t>La suite</a:t>
            </a:r>
          </a:p>
          <a:p>
            <a:pPr>
              <a:lnSpc>
                <a:spcPct val="108000"/>
              </a:lnSpc>
              <a:spcAft>
                <a:spcPts val="0"/>
              </a:spcAft>
            </a:pPr>
            <a:r>
              <a:rPr b="0" sz="1500">
                <a:solidFill>
                  <a:srgbClr val="44555F"/>
                </a:solidFill>
                <a:latin typeface="Segoe UI"/>
              </a:rPr>
              <a:t>Une base sur laquelle l'entreprise peut brancher des alertes et des méthodes de prévision plus avancées.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81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606040"/>
            <a:ext cx="10058400" cy="1280160"/>
          </a:xfrm>
          <a:prstGeom prst="rect">
            <a:avLst/>
          </a:prstGeom>
          <a:noFill/>
        </p:spPr>
        <p:txBody>
          <a:bodyPr wrap="square" lIns="0" rIns="0" tIns="0" bIns="0" anchor="t">
            <a:spAutoFit/>
          </a:bodyPr>
          <a:lstStyle/>
          <a:p>
            <a:r>
              <a:rPr sz="4400" b="1">
                <a:solidFill>
                  <a:srgbClr val="FFFFFF"/>
                </a:solidFill>
                <a:latin typeface="Segoe UI Semibold"/>
              </a:rPr>
              <a:t>Merci de votre attention</a:t>
            </a:r>
          </a:p>
          <a:p>
            <a:pPr>
              <a:spcBef>
                <a:spcPts val="1200"/>
              </a:spcBef>
            </a:pPr>
            <a:r>
              <a:rPr sz="1800">
                <a:solidFill>
                  <a:srgbClr val="A9BCC7"/>
                </a:solidFill>
                <a:latin typeface="Segoe UI"/>
              </a:rPr>
              <a:t>Je suis à votre disposition pour vos questions.</a:t>
            </a:r>
          </a:p>
        </p:txBody>
      </p:sp>
      <p:sp>
        <p:nvSpPr>
          <p:cNvPr id="4" name="Rectangle 3"/>
          <p:cNvSpPr/>
          <p:nvPr/>
        </p:nvSpPr>
        <p:spPr>
          <a:xfrm>
            <a:off x="1005840" y="4160520"/>
            <a:ext cx="2011680" cy="3175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526280"/>
            <a:ext cx="10058400" cy="457200"/>
          </a:xfrm>
          <a:prstGeom prst="rect">
            <a:avLst/>
          </a:prstGeom>
          <a:noFill/>
        </p:spPr>
        <p:txBody>
          <a:bodyPr wrap="square" lIns="0" rIns="0" tIns="0" bIns="0" anchor="t">
            <a:spAutoFit/>
          </a:bodyPr>
          <a:lstStyle/>
          <a:p>
            <a:r>
              <a:rPr sz="1300">
                <a:solidFill>
                  <a:srgbClr val="8FB8D2"/>
                </a:solidFill>
                <a:latin typeface="Segoe UI"/>
              </a:rPr>
              <a:t>Nizar BAKALI  ·  EMSI Tanger  ·  GMD Metal Tanger  ·  Septembre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DIAPOSITIVE DE SECOURS</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Annexe — Séquence de traitement de l'import CSV</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28</a:t>
            </a:r>
          </a:p>
        </p:txBody>
      </p:sp>
      <p:pic>
        <p:nvPicPr>
          <p:cNvPr id="7" name="Picture 6" descr="seq_import.png"/>
          <p:cNvPicPr>
            <a:picLocks noChangeAspect="1"/>
          </p:cNvPicPr>
          <p:nvPr/>
        </p:nvPicPr>
        <p:blipFill>
          <a:blip r:embed="rId2"/>
          <a:stretch>
            <a:fillRect/>
          </a:stretch>
        </p:blipFill>
        <p:spPr>
          <a:xfrm>
            <a:off x="2348396" y="1508760"/>
            <a:ext cx="7494903" cy="4480560"/>
          </a:xfrm>
          <a:prstGeom prst="rect">
            <a:avLst/>
          </a:prstGeom>
          <a:ln w="9525">
            <a:solidFill>
              <a:srgbClr val="D2DBDF"/>
            </a:solidFill>
          </a:ln>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10874959" cy="219456"/>
          </a:xfrm>
          <a:prstGeom prst="rect">
            <a:avLst/>
          </a:prstGeom>
          <a:noFill/>
        </p:spPr>
        <p:txBody>
          <a:bodyPr wrap="square" lIns="0" rIns="0" tIns="0" bIns="0" anchor="t">
            <a:spAutoFit/>
          </a:bodyPr>
          <a:lstStyle/>
          <a:p>
            <a:r>
              <a:rPr sz="1050" b="1">
                <a:solidFill>
                  <a:srgbClr val="6C7C86"/>
                </a:solidFill>
                <a:latin typeface="Segoe UI"/>
              </a:rPr>
              <a:t>DIAPOSITIVE DE SECOURS</a:t>
            </a:r>
          </a:p>
        </p:txBody>
      </p:sp>
      <p:sp>
        <p:nvSpPr>
          <p:cNvPr id="3" name="TextBox 2"/>
          <p:cNvSpPr txBox="1"/>
          <p:nvPr/>
        </p:nvSpPr>
        <p:spPr>
          <a:xfrm>
            <a:off x="658368" y="603504"/>
            <a:ext cx="10874959" cy="566928"/>
          </a:xfrm>
          <a:prstGeom prst="rect">
            <a:avLst/>
          </a:prstGeom>
          <a:noFill/>
        </p:spPr>
        <p:txBody>
          <a:bodyPr wrap="square" lIns="0" rIns="0" tIns="0" bIns="0" anchor="t">
            <a:spAutoFit/>
          </a:bodyPr>
          <a:lstStyle/>
          <a:p>
            <a:r>
              <a:rPr sz="2700" b="1">
                <a:solidFill>
                  <a:srgbClr val="12181D"/>
                </a:solidFill>
                <a:latin typeface="Segoe UI Semibold"/>
              </a:rPr>
              <a:t>Annexe — Extraits de code</a:t>
            </a:r>
          </a:p>
        </p:txBody>
      </p:sp>
      <p:sp>
        <p:nvSpPr>
          <p:cNvPr id="4" name="Rectangle 3"/>
          <p:cNvSpPr/>
          <p:nvPr/>
        </p:nvSpPr>
        <p:spPr>
          <a:xfrm>
            <a:off x="658368" y="1207008"/>
            <a:ext cx="1371600" cy="38100"/>
          </a:xfrm>
          <a:prstGeom prst="rect">
            <a:avLst/>
          </a:prstGeom>
          <a:solidFill>
            <a:srgbClr val="1F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6400800" cy="256032"/>
          </a:xfrm>
          <a:prstGeom prst="rect">
            <a:avLst/>
          </a:prstGeom>
          <a:noFill/>
        </p:spPr>
        <p:txBody>
          <a:bodyPr wrap="square" lIns="0" rIns="0" tIns="0" bIns="0" anchor="t">
            <a:spAutoFit/>
          </a:bodyPr>
          <a:lstStyle/>
          <a:p>
            <a:r>
              <a:rPr sz="900">
                <a:solidFill>
                  <a:srgbClr val="6C7C86"/>
                </a:solidFill>
                <a:latin typeface="Segoe UI"/>
              </a:rPr>
              <a:t>GMD Metal Tanger — Gestion et prévision des stocks</a:t>
            </a:r>
          </a:p>
        </p:txBody>
      </p:sp>
      <p:sp>
        <p:nvSpPr>
          <p:cNvPr id="6" name="TextBox 5"/>
          <p:cNvSpPr txBox="1"/>
          <p:nvPr/>
        </p:nvSpPr>
        <p:spPr>
          <a:xfrm>
            <a:off x="10618927" y="6382512"/>
            <a:ext cx="914400" cy="256032"/>
          </a:xfrm>
          <a:prstGeom prst="rect">
            <a:avLst/>
          </a:prstGeom>
          <a:noFill/>
        </p:spPr>
        <p:txBody>
          <a:bodyPr wrap="square" lIns="0" rIns="0" tIns="0" bIns="0" anchor="t">
            <a:spAutoFit/>
          </a:bodyPr>
          <a:lstStyle/>
          <a:p>
            <a:pPr algn="r"/>
            <a:r>
              <a:rPr sz="1000">
                <a:solidFill>
                  <a:srgbClr val="6C7C86"/>
                </a:solidFill>
                <a:latin typeface="Segoe UI"/>
              </a:rPr>
              <a:t>29</a:t>
            </a:r>
          </a:p>
        </p:txBody>
      </p:sp>
      <p:sp>
        <p:nvSpPr>
          <p:cNvPr id="7" name="Rectangle 6"/>
          <p:cNvSpPr/>
          <p:nvPr/>
        </p:nvSpPr>
        <p:spPr>
          <a:xfrm>
            <a:off x="658368" y="1463040"/>
            <a:ext cx="5532120" cy="210312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09344"/>
            <a:ext cx="5120640" cy="457200"/>
          </a:xfrm>
          <a:prstGeom prst="rect">
            <a:avLst/>
          </a:prstGeom>
          <a:noFill/>
        </p:spPr>
        <p:txBody>
          <a:bodyPr wrap="square" lIns="0" rIns="0" tIns="0" bIns="0" anchor="t">
            <a:spAutoFit/>
          </a:bodyPr>
          <a:lstStyle/>
          <a:p>
            <a:r>
              <a:rPr sz="1300" b="1">
                <a:solidFill>
                  <a:srgbClr val="12181D"/>
                </a:solidFill>
                <a:latin typeface="Segoe UI Semibold"/>
              </a:rPr>
              <a:t>La tendance annuelle de la prévision</a:t>
            </a:r>
          </a:p>
          <a:p>
            <a:r>
              <a:rPr sz="950">
                <a:solidFill>
                  <a:srgbClr val="6C7C86"/>
                </a:solidFill>
                <a:latin typeface="Consolas"/>
              </a:rPr>
              <a:t>Python/forecast.py</a:t>
            </a:r>
          </a:p>
        </p:txBody>
      </p:sp>
      <p:sp>
        <p:nvSpPr>
          <p:cNvPr id="9" name="TextBox 8"/>
          <p:cNvSpPr txBox="1"/>
          <p:nvPr/>
        </p:nvSpPr>
        <p:spPr>
          <a:xfrm>
            <a:off x="859536" y="2267712"/>
            <a:ext cx="5120640" cy="1188720"/>
          </a:xfrm>
          <a:prstGeom prst="rect">
            <a:avLst/>
          </a:prstGeom>
          <a:noFill/>
        </p:spPr>
        <p:txBody>
          <a:bodyPr wrap="square" lIns="0" rIns="0" tIns="0" bIns="0" anchor="t">
            <a:spAutoFit/>
          </a:bodyPr>
          <a:lstStyle/>
          <a:p>
            <a:pPr>
              <a:spcAft>
                <a:spcPts val="100"/>
              </a:spcAft>
            </a:pPr>
            <a:r>
              <a:rPr sz="1000">
                <a:solidFill>
                  <a:srgbClr val="12181D"/>
                </a:solidFill>
                <a:latin typeface="Consolas"/>
              </a:rPr>
              <a:t>slope = sum((x - mean_x) * (y - mean_y)</a:t>
            </a:r>
          </a:p>
          <a:p>
            <a:pPr>
              <a:spcAft>
                <a:spcPts val="100"/>
              </a:spcAft>
            </a:pPr>
            <a:r>
              <a:rPr sz="1000">
                <a:solidFill>
                  <a:srgbClr val="12181D"/>
                </a:solidFill>
                <a:latin typeface="Consolas"/>
              </a:rPr>
              <a:t>            for x, y in zip(indexes, annual_totals)) / denominator</a:t>
            </a:r>
          </a:p>
          <a:p>
            <a:pPr>
              <a:spcAft>
                <a:spcPts val="100"/>
              </a:spcAft>
            </a:pPr>
            <a:r>
              <a:rPr sz="1000">
                <a:solidFill>
                  <a:srgbClr val="12181D"/>
                </a:solidFill>
                <a:latin typeface="Consolas"/>
              </a:rPr>
              <a:t>target_total = max(0, annual_totals[-1] + slope)</a:t>
            </a:r>
          </a:p>
        </p:txBody>
      </p:sp>
      <p:sp>
        <p:nvSpPr>
          <p:cNvPr id="10" name="Rectangle 9"/>
          <p:cNvSpPr/>
          <p:nvPr/>
        </p:nvSpPr>
        <p:spPr>
          <a:xfrm>
            <a:off x="6601968" y="1463040"/>
            <a:ext cx="5532120" cy="210312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03136" y="1609344"/>
            <a:ext cx="5120640" cy="457200"/>
          </a:xfrm>
          <a:prstGeom prst="rect">
            <a:avLst/>
          </a:prstGeom>
          <a:noFill/>
        </p:spPr>
        <p:txBody>
          <a:bodyPr wrap="square" lIns="0" rIns="0" tIns="0" bIns="0" anchor="t">
            <a:spAutoFit/>
          </a:bodyPr>
          <a:lstStyle/>
          <a:p>
            <a:r>
              <a:rPr sz="1300" b="1">
                <a:solidFill>
                  <a:srgbClr val="12181D"/>
                </a:solidFill>
                <a:latin typeface="Segoe UI Semibold"/>
              </a:rPr>
              <a:t>Le contrôle de stock chronologique</a:t>
            </a:r>
          </a:p>
          <a:p>
            <a:r>
              <a:rPr sz="950">
                <a:solidFill>
                  <a:srgbClr val="6C7C86"/>
                </a:solidFill>
                <a:latin typeface="Consolas"/>
              </a:rPr>
              <a:t>Services/DonneeService.cs</a:t>
            </a:r>
          </a:p>
        </p:txBody>
      </p:sp>
      <p:sp>
        <p:nvSpPr>
          <p:cNvPr id="12" name="TextBox 11"/>
          <p:cNvSpPr txBox="1"/>
          <p:nvPr/>
        </p:nvSpPr>
        <p:spPr>
          <a:xfrm>
            <a:off x="6803136" y="2267712"/>
            <a:ext cx="5120640" cy="1188720"/>
          </a:xfrm>
          <a:prstGeom prst="rect">
            <a:avLst/>
          </a:prstGeom>
          <a:noFill/>
        </p:spPr>
        <p:txBody>
          <a:bodyPr wrap="square" lIns="0" rIns="0" tIns="0" bIns="0" anchor="t">
            <a:spAutoFit/>
          </a:bodyPr>
          <a:lstStyle/>
          <a:p>
            <a:pPr>
              <a:spcAft>
                <a:spcPts val="100"/>
              </a:spcAft>
            </a:pPr>
            <a:r>
              <a:rPr sz="1000">
                <a:solidFill>
                  <a:srgbClr val="12181D"/>
                </a:solidFill>
                <a:latin typeface="Consolas"/>
              </a:rPr>
              <a:t>foreach (var movement in timeline.OrderBy(m =&gt; m.Month))</a:t>
            </a:r>
          </a:p>
          <a:p>
            <a:pPr>
              <a:spcAft>
                <a:spcPts val="100"/>
              </a:spcAft>
            </a:pPr>
            <a:r>
              <a:rPr sz="1000">
                <a:solidFill>
                  <a:srgbClr val="12181D"/>
                </a:solidFill>
                <a:latin typeface="Consolas"/>
              </a:rPr>
              <a:t>{</a:t>
            </a:r>
          </a:p>
          <a:p>
            <a:pPr>
              <a:spcAft>
                <a:spcPts val="100"/>
              </a:spcAft>
            </a:pPr>
            <a:r>
              <a:rPr sz="1000">
                <a:solidFill>
                  <a:srgbClr val="12181D"/>
                </a:solidFill>
                <a:latin typeface="Consolas"/>
              </a:rPr>
              <a:t>    runningStock += movement.QuantityIn - movement.QuantityOut;</a:t>
            </a:r>
          </a:p>
          <a:p>
            <a:pPr>
              <a:spcAft>
                <a:spcPts val="100"/>
              </a:spcAft>
            </a:pPr>
            <a:r>
              <a:rPr sz="1000">
                <a:solidFill>
                  <a:srgbClr val="12181D"/>
                </a:solidFill>
                <a:latin typeface="Consolas"/>
              </a:rPr>
              <a:t>    if (runningStock &lt; 0) throw new InvalidOperationException(...);</a:t>
            </a:r>
          </a:p>
          <a:p>
            <a:pPr>
              <a:spcAft>
                <a:spcPts val="100"/>
              </a:spcAft>
            </a:pPr>
            <a:r>
              <a:rPr sz="1000">
                <a:solidFill>
                  <a:srgbClr val="12181D"/>
                </a:solidFill>
                <a:latin typeface="Consolas"/>
              </a:rPr>
              <a:t>}</a:t>
            </a:r>
          </a:p>
        </p:txBody>
      </p:sp>
      <p:sp>
        <p:nvSpPr>
          <p:cNvPr id="13" name="Rectangle 12"/>
          <p:cNvSpPr/>
          <p:nvPr/>
        </p:nvSpPr>
        <p:spPr>
          <a:xfrm>
            <a:off x="658368" y="3794760"/>
            <a:ext cx="5532120" cy="210312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941064"/>
            <a:ext cx="5120640" cy="457200"/>
          </a:xfrm>
          <a:prstGeom prst="rect">
            <a:avLst/>
          </a:prstGeom>
          <a:noFill/>
        </p:spPr>
        <p:txBody>
          <a:bodyPr wrap="square" lIns="0" rIns="0" tIns="0" bIns="0" anchor="t">
            <a:spAutoFit/>
          </a:bodyPr>
          <a:lstStyle/>
          <a:p>
            <a:r>
              <a:rPr sz="1300" b="1">
                <a:solidFill>
                  <a:srgbClr val="12181D"/>
                </a:solidFill>
                <a:latin typeface="Segoe UI Semibold"/>
              </a:rPr>
              <a:t>La simulation d'import par rollback</a:t>
            </a:r>
          </a:p>
          <a:p>
            <a:r>
              <a:rPr sz="950">
                <a:solidFill>
                  <a:srgbClr val="6C7C86"/>
                </a:solidFill>
                <a:latin typeface="Consolas"/>
              </a:rPr>
              <a:t>Services/DonneeService.cs</a:t>
            </a:r>
          </a:p>
        </p:txBody>
      </p:sp>
      <p:sp>
        <p:nvSpPr>
          <p:cNvPr id="15" name="TextBox 14"/>
          <p:cNvSpPr txBox="1"/>
          <p:nvPr/>
        </p:nvSpPr>
        <p:spPr>
          <a:xfrm>
            <a:off x="859536" y="4599432"/>
            <a:ext cx="5120640" cy="1188720"/>
          </a:xfrm>
          <a:prstGeom prst="rect">
            <a:avLst/>
          </a:prstGeom>
          <a:noFill/>
        </p:spPr>
        <p:txBody>
          <a:bodyPr wrap="square" lIns="0" rIns="0" tIns="0" bIns="0" anchor="t">
            <a:spAutoFit/>
          </a:bodyPr>
          <a:lstStyle/>
          <a:p>
            <a:pPr>
              <a:spcAft>
                <a:spcPts val="100"/>
              </a:spcAft>
            </a:pPr>
            <a:r>
              <a:rPr sz="1000">
                <a:solidFill>
                  <a:srgbClr val="12181D"/>
                </a:solidFill>
                <a:latin typeface="Consolas"/>
              </a:rPr>
              <a:t>if (dryRun) { await transaction.RollbackAsync();</a:t>
            </a:r>
          </a:p>
          <a:p>
            <a:pPr>
              <a:spcAft>
                <a:spcPts val="100"/>
              </a:spcAft>
            </a:pPr>
            <a:r>
              <a:rPr sz="1000">
                <a:solidFill>
                  <a:srgbClr val="12181D"/>
                </a:solidFill>
                <a:latin typeface="Consolas"/>
              </a:rPr>
              <a:t>              _context.ChangeTracker.Clear(); }</a:t>
            </a:r>
          </a:p>
          <a:p>
            <a:pPr>
              <a:spcAft>
                <a:spcPts val="100"/>
              </a:spcAft>
            </a:pPr>
            <a:r>
              <a:rPr sz="1000">
                <a:solidFill>
                  <a:srgbClr val="12181D"/>
                </a:solidFill>
                <a:latin typeface="Consolas"/>
              </a:rPr>
              <a:t>else        { await transaction.CommitAsync(); }</a:t>
            </a:r>
          </a:p>
        </p:txBody>
      </p:sp>
      <p:sp>
        <p:nvSpPr>
          <p:cNvPr id="16" name="Rectangle 15"/>
          <p:cNvSpPr/>
          <p:nvPr/>
        </p:nvSpPr>
        <p:spPr>
          <a:xfrm>
            <a:off x="6601968" y="3794760"/>
            <a:ext cx="5532120" cy="2103120"/>
          </a:xfrm>
          <a:prstGeom prst="rect">
            <a:avLst/>
          </a:prstGeom>
          <a:solidFill>
            <a:srgbClr val="F2F5F6"/>
          </a:solidFill>
          <a:ln w="9525">
            <a:solidFill>
              <a:srgbClr val="D2DB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941064"/>
            <a:ext cx="5120640" cy="457200"/>
          </a:xfrm>
          <a:prstGeom prst="rect">
            <a:avLst/>
          </a:prstGeom>
          <a:noFill/>
        </p:spPr>
        <p:txBody>
          <a:bodyPr wrap="square" lIns="0" rIns="0" tIns="0" bIns="0" anchor="t">
            <a:spAutoFit/>
          </a:bodyPr>
          <a:lstStyle/>
          <a:p>
            <a:r>
              <a:rPr sz="1300" b="1">
                <a:solidFill>
                  <a:srgbClr val="12181D"/>
                </a:solidFill>
                <a:latin typeface="Segoe UI Semibold"/>
              </a:rPr>
              <a:t>Les deux règles d'unicité des mouvements</a:t>
            </a:r>
          </a:p>
          <a:p>
            <a:r>
              <a:rPr sz="950">
                <a:solidFill>
                  <a:srgbClr val="6C7C86"/>
                </a:solidFill>
                <a:latin typeface="Consolas"/>
              </a:rPr>
              <a:t>Data/StorageDbContext.cs</a:t>
            </a:r>
          </a:p>
        </p:txBody>
      </p:sp>
      <p:sp>
        <p:nvSpPr>
          <p:cNvPr id="18" name="TextBox 17"/>
          <p:cNvSpPr txBox="1"/>
          <p:nvPr/>
        </p:nvSpPr>
        <p:spPr>
          <a:xfrm>
            <a:off x="6803136" y="4599432"/>
            <a:ext cx="5120640" cy="1188720"/>
          </a:xfrm>
          <a:prstGeom prst="rect">
            <a:avLst/>
          </a:prstGeom>
          <a:noFill/>
        </p:spPr>
        <p:txBody>
          <a:bodyPr wrap="square" lIns="0" rIns="0" tIns="0" bIns="0" anchor="t">
            <a:spAutoFit/>
          </a:bodyPr>
          <a:lstStyle/>
          <a:p>
            <a:pPr>
              <a:spcAft>
                <a:spcPts val="100"/>
              </a:spcAft>
            </a:pPr>
            <a:r>
              <a:rPr sz="1000">
                <a:solidFill>
                  <a:srgbClr val="12181D"/>
                </a:solidFill>
                <a:latin typeface="Consolas"/>
              </a:rPr>
              <a:t>entity.HasIndex(e =&gt; new { e.ArticleId, e.CaseId, e.Mois })</a:t>
            </a:r>
          </a:p>
          <a:p>
            <a:pPr>
              <a:spcAft>
                <a:spcPts val="100"/>
              </a:spcAft>
            </a:pPr>
            <a:r>
              <a:rPr sz="1000">
                <a:solidFill>
                  <a:srgbClr val="12181D"/>
                </a:solidFill>
                <a:latin typeface="Consolas"/>
              </a:rPr>
              <a:t>      .IsUnique()</a:t>
            </a:r>
          </a:p>
          <a:p>
            <a:pPr>
              <a:spcAft>
                <a:spcPts val="100"/>
              </a:spcAft>
            </a:pPr>
            <a:r>
              <a:rPr sz="1000">
                <a:solidFill>
                  <a:srgbClr val="12181D"/>
                </a:solidFill>
                <a:latin typeface="Consolas"/>
              </a:rPr>
              <a:t>      .HasFilter("[CaseId] IS NOT NULL");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